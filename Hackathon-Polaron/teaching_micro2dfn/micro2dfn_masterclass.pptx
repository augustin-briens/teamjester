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framing (90 s).</a:t>
            </a:r>
          </a:p>
          <a:p/>
          <a:p>
            <a:r>
              <a:t>This deck teaches ONE thing: the full evidential chain from a raw</a:t>
            </a:r>
          </a:p>
          <a:p>
            <a:r>
              <a:t>back-scattered-electron image to (a) a QC comparison against a baseline</a:t>
            </a:r>
          </a:p>
          <a:p>
            <a:r>
              <a:t>batch and (b) physics-model consequence indicators — with every step</a:t>
            </a:r>
          </a:p>
          <a:p>
            <a:r>
              <a:t>executed on the real images in this repository, and every number</a:t>
            </a:r>
          </a:p>
          <a:p>
            <a:r>
              <a:t>traceable to a file.</a:t>
            </a:r>
          </a:p>
          <a:p/>
          <a:p>
            <a:r>
              <a:t>Two systems exist here and they do DIFFERENT jobs:</a:t>
            </a:r>
          </a:p>
          <a:p>
            <a:r>
              <a:t>- polaron_qc  — anomaly detection against a frozen baseline (Batch_3).</a:t>
            </a:r>
          </a:p>
          <a:p>
            <a:r>
              <a:t>  Its verdicts (ACCEPT / INVESTIGATE / REJECT) are statements about</a:t>
            </a:r>
          </a:p>
          <a:p>
            <a:r>
              <a:t>  similarity to a reference, not about chemistry or cell life.</a:t>
            </a:r>
          </a:p>
          <a:p>
            <a:r>
              <a:t>- micro2dfn   — structural measurement (pores, silicon objects,</a:t>
            </a:r>
          </a:p>
          <a:p>
            <a:r>
              <a:t>  proximity) plus exploratory PyBaMM-DFN consequence indicators.</a:t>
            </a:r>
          </a:p>
          <a:p/>
          <a:p>
            <a:r>
              <a:t>House rules we will keep honouring all the way through:</a:t>
            </a:r>
          </a:p>
          <a:p>
            <a:r>
              <a:t>- Batch_3 is a shipment-approved SELECTED reference, not proven</a:t>
            </a:r>
          </a:p>
          <a:p>
            <a:r>
              <a:t>  defect-free ground truth.</a:t>
            </a:r>
          </a:p>
          <a:p>
            <a:r>
              <a:t>- Every quantitative claim carries a class: measured / inferred /</a:t>
            </a:r>
          </a:p>
          <a:p>
            <a:r>
              <a:t>  assumed / simulated / illustrative (see claim_evidence.csv).</a:t>
            </a:r>
          </a:p>
          <a:p>
            <a:r>
              <a:t>- The image, not the pixel or the particle, is the independent unit —</a:t>
            </a:r>
          </a:p>
          <a:p>
            <a:r>
              <a:t>  34 images is a small dataset, so several honest answers are "we</a:t>
            </a:r>
          </a:p>
          <a:p>
            <a:r>
              <a:t>  cannot tell with this data".</a:t>
            </a:r>
          </a:p>
          <a:p/>
          <a:p>
            <a:r>
              <a:t>A 10-slide fast route is marked ROUTE in the corner; everything else is</a:t>
            </a:r>
          </a:p>
          <a:p>
            <a:r>
              <a:t>the teaching path (technical depth lives in the notes + appendix).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Orientation slide.</a:t>
            </a:r>
          </a:p>
          <a:p/>
          <a:p>
            <a:r>
              <a:t>The fast route exists so a time-poor reviewer gets the honest story in</a:t>
            </a:r>
          </a:p>
          <a:p>
            <a:r>
              <a:t>15 minutes: what the data are, what the pipelines do, the ONE supported</a:t>
            </a:r>
          </a:p>
          <a:p>
            <a:r>
              <a:t>batch difference (noise-adjusted resolved-pore count, Batch_1 vs</a:t>
            </a:r>
          </a:p>
          <a:p>
            <a:r>
              <a:t>Batch_3), the unresolved Batch_1 bright-material question, what the DFN</a:t>
            </a:r>
          </a:p>
          <a:p>
            <a:r>
              <a:t>adds (conditional indicators only), and the evidence wall.</a:t>
            </a:r>
          </a:p>
          <a:p/>
          <a:p>
            <a:r>
              <a:t>Everything outside the route is where a student learns HOW: the</a:t>
            </a:r>
          </a:p>
          <a:p>
            <a:r>
              <a:t>histogram where thresholds come from, why thresholds are frozen, the</a:t>
            </a:r>
          </a:p>
          <a:p>
            <a:r>
              <a:t>classifier that caused the two pipelines to disagree, the permutation</a:t>
            </a:r>
          </a:p>
          <a:p>
            <a:r>
              <a:t>test mechanics, the 17-point assumption sweep, and the roadmap for</a:t>
            </a:r>
          </a:p>
          <a:p>
            <a:r>
              <a:t>doing this prospectively.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 used here: C01 (34 FOVs), dataset counts.</a:t>
            </a:r>
          </a:p>
          <a:p/>
          <a:p>
            <a:r>
              <a:t>Set the stakes plainly. These are graphite+silicon composite anodes.</a:t>
            </a:r>
          </a:p>
          <a:p>
            <a:r>
              <a:t>A QC engineer receives new batches and photos; the questions are</a:t>
            </a:r>
          </a:p>
          <a:p>
            <a:r>
              <a:t>similarity and consequence. What we CAN answer: whether the resolved</a:t>
            </a:r>
          </a:p>
          <a:p>
            <a:r>
              <a:t>structure differs from the reference under a frozen measurement</a:t>
            </a:r>
          </a:p>
          <a:p>
            <a:r>
              <a:t>recipe, and — under declared assumptions — how those structural</a:t>
            </a:r>
          </a:p>
          <a:p>
            <a:r>
              <a:t>differences could move model indicators. What we CANNOT: chemistry</a:t>
            </a:r>
          </a:p>
          <a:p>
            <a:r>
              <a:t>(the disputed bright material needs EDS), cell performance (no cells</a:t>
            </a:r>
          </a:p>
          <a:p>
            <a:r>
              <a:t>were tested), lifetime, safety.</a:t>
            </a:r>
          </a:p>
          <a:p/>
          <a:p>
            <a:r>
              <a:t>Notice the asymmetry already: the reference was chosen because it</a:t>
            </a:r>
          </a:p>
          <a:p>
            <a:r>
              <a:t>passed shipment review — it is a ruler, not a promise of perfection.</a:t>
            </a:r>
          </a:p>
          <a:p>
            <a:r>
              <a:t>Everything downstream is 'different from Batch_3', never 'good/bad'</a:t>
            </a:r>
          </a:p>
          <a:p>
            <a:r>
              <a:t>in absolute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C03 (25 nm pitch), C04 (selection rule for</a:t>
            </a:r>
          </a:p>
          <a:p>
            <a:r>
              <a:t>img_hawkfj64), C01.</a:t>
            </a:r>
          </a:p>
          <a:p/>
          <a:p>
            <a:r>
              <a:t>BSE contrast is compositional: heavier average atomic number =</a:t>
            </a:r>
          </a:p>
          <a:p>
            <a:r>
              <a:t>brighter. Carbon (graphite, binder) is dark-to-mid; silicon is</a:t>
            </a:r>
          </a:p>
          <a:p>
            <a:r>
              <a:t>brighter; vacuum-filled pores are darkest. This is why BSE — and not</a:t>
            </a:r>
          </a:p>
          <a:p>
            <a:r>
              <a:t>the secondary-electron channels — is the workhorse for phase</a:t>
            </a:r>
          </a:p>
          <a:p>
            <a:r>
              <a:t>segmentation, and also its weakness: contrast says 'mean atomic</a:t>
            </a:r>
          </a:p>
          <a:p>
            <a:r>
              <a:t>number', not 'chemical species'. Silicon vs silicon-oxide vs a</a:t>
            </a:r>
          </a:p>
          <a:p>
            <a:r>
              <a:t>bright contaminant can overlap; that ambiguity becomes the central</a:t>
            </a:r>
          </a:p>
          <a:p>
            <a:r>
              <a:t>plot twist for Batch_1 later.</a:t>
            </a:r>
          </a:p>
          <a:p/>
          <a:p>
            <a:r>
              <a:t>The 25 nm/px figure comes from the TIFF resolution tags (manifest).</a:t>
            </a:r>
          </a:p>
          <a:p>
            <a:r>
              <a:t>Stress: pitch is not resolution — beam broadening, polishing smear,</a:t>
            </a:r>
          </a:p>
          <a:p>
            <a:r>
              <a:t>and the pixel-count floor set a practical limit, which is why the</a:t>
            </a:r>
          </a:p>
          <a:p>
            <a:r>
              <a:t>recipe uses min-object sizes (20 px pores ~0.13 µm, 150 px bright</a:t>
            </a:r>
          </a:p>
          <a:p>
            <a:r>
              <a:t>~0.35 µm).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C01, C02.</a:t>
            </a:r>
          </a:p>
          <a:p/>
          <a:p>
            <a:r>
              <a:t>Point out the design constraint that drives ALL statistics later: the</a:t>
            </a:r>
          </a:p>
          <a:p>
            <a:r>
              <a:t>image is the independent unit, and we have 7/7/17. A single image is</a:t>
            </a:r>
          </a:p>
          <a:p>
            <a:r>
              <a:t>~1500x2500 px and may contain ~10^3 objects — but those pixels and</a:t>
            </a:r>
          </a:p>
          <a:p>
            <a:r>
              <a:t>objects are correlated inside one specimen, one polish, one imaging</a:t>
            </a:r>
          </a:p>
          <a:p>
            <a:r>
              <a:t>session. Treating them as independent would overstate the evidence by</a:t>
            </a:r>
          </a:p>
          <a:p>
            <a:r>
              <a:t>orders of magnitude. That is why the comparison uses batch-level</a:t>
            </a:r>
          </a:p>
          <a:p>
            <a:r>
              <a:t>permutation on image-level summaries.</a:t>
            </a:r>
          </a:p>
          <a:p/>
          <a:p>
            <a:r>
              <a:t>Channels matter for adjudication: ETD/InLens give texture/topography</a:t>
            </a:r>
          </a:p>
          <a:p>
            <a:r>
              <a:t>that help decide whether a bright object is a real particle or an</a:t>
            </a:r>
          </a:p>
          <a:p>
            <a:r>
              <a:t>edge artefact (used in the six-test adjudication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C37 (assumed inputs), C39 (tortuosity limit).</a:t>
            </a:r>
          </a:p>
          <a:p/>
          <a:p>
            <a:r>
              <a:t>This is the most important honesty slide in the deck. Students must</a:t>
            </a:r>
          </a:p>
          <a:p>
            <a:r>
              <a:t>internalise: a cross-section image is a thin, 2-D, sub-micron-resolved</a:t>
            </a:r>
          </a:p>
          <a:p>
            <a:r>
              <a:t>snapshot. Everything about the third dimension, the sub-resolution</a:t>
            </a:r>
          </a:p>
          <a:p>
            <a:r>
              <a:t>phases, and the chemistry is INFERRED or ASSUMED.</a:t>
            </a:r>
          </a:p>
          <a:p/>
          <a:p>
            <a:r>
              <a:t>The DFN model later needs ~10 inputs the images cannot provide; we</a:t>
            </a:r>
          </a:p>
          <a:p>
            <a:r>
              <a:t>handle that by declaring them, sweeping them over published/physical</a:t>
            </a:r>
          </a:p>
          <a:p>
            <a:r>
              <a:t>bands, and comparing batches at matched assumption points — but the</a:t>
            </a:r>
          </a:p>
          <a:p>
            <a:r>
              <a:t>batch difference can never exceed the assumption spread (we will show</a:t>
            </a:r>
          </a:p>
          <a:p>
            <a:r>
              <a:t>that it does not).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C21 (crosswalk correlations), C22 (verdict</a:t>
            </a:r>
          </a:p>
          <a:p>
            <a:r>
              <a:t>agreement 13/14).</a:t>
            </a:r>
          </a:p>
          <a:p/>
          <a:p>
            <a:r>
              <a:t>Key teaching point: two systems can share a segmentation front-end</a:t>
            </a:r>
          </a:p>
          <a:p>
            <a:r>
              <a:t>yet answer different questions, so comparing their 'verdicts'</a:t>
            </a:r>
          </a:p>
          <a:p>
            <a:r>
              <a:t>directly is a category error. polaron_qc flags departure from a</a:t>
            </a:r>
          </a:p>
          <a:p>
            <a:r>
              <a:t>baseline (all bright material counted generously); micro2dfn must</a:t>
            </a:r>
          </a:p>
          <a:p>
            <a:r>
              <a:t>assign a mechanism-relevant class to every bright object (particle</a:t>
            </a:r>
          </a:p>
          <a:p>
            <a:r>
              <a:t>vs fine vs rim), because only particles belong in the DFN particle</a:t>
            </a:r>
          </a:p>
          <a:p>
            <a:r>
              <a:t>model.</a:t>
            </a:r>
          </a:p>
          <a:p/>
          <a:p>
            <a:r>
              <a:t>The empirical fact that makes this vivid: across 31 images the two</a:t>
            </a:r>
          </a:p>
          <a:p>
            <a:r>
              <a:t>pipelines correlate at r~0.8-1.0 on every shared metric EXCEPT</a:t>
            </a:r>
          </a:p>
          <a:p>
            <a:r>
              <a:t>classified silicon (r=0.27). They see the same pixels; they disagree</a:t>
            </a:r>
          </a:p>
          <a:p>
            <a:r>
              <a:t>only about what to call the borderline objects. This is the single</a:t>
            </a:r>
          </a:p>
          <a:p>
            <a:r>
              <a:t>most instructive disagreement in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Flat-field correction divides the image by its own</a:t>
            </a:r>
          </a:p>
          <a:p>
            <a:r>
              <a:t>heavily low-passed version, removing gradients larger than the</a:t>
            </a:r>
          </a:p>
          <a:p>
            <a:r>
              <a:t>features we care about while leaving particle-scale contrast intact.</a:t>
            </a:r>
          </a:p>
          <a:p/>
          <a:p>
            <a:r>
              <a:t>Why it matters for trust: a vignette can shift a region across a</a:t>
            </a:r>
          </a:p>
          <a:p>
            <a:r>
              <a:t>global threshold and masquerade as composition change. After</a:t>
            </a:r>
          </a:p>
          <a:p>
            <a:r>
              <a:t>flat-fielding, residual drift still exists (the si_bulk_contrast</a:t>
            </a:r>
          </a:p>
          <a:p>
            <a:r>
              <a:t>guard metric watches for it — two Batch_1 photos later fail this</a:t>
            </a:r>
          </a:p>
          <a:p>
            <a:r>
              <a:t>guard).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C05–C06 (threshold values).</a:t>
            </a:r>
          </a:p>
          <a:p/>
          <a:p>
            <a:r>
              <a:t>Walk the histogram left to right: the pore mode (near black), the big</a:t>
            </a:r>
          </a:p>
          <a:p>
            <a:r>
              <a:t>bulk mode (graphite+binder), and the long bright tail (silicon</a:t>
            </a:r>
          </a:p>
          <a:p>
            <a:r>
              <a:t>family). Otsu's method chooses cut points minimising within-class</a:t>
            </a:r>
          </a:p>
          <a:p>
            <a:r>
              <a:t>variance — it is a criterion, not a truth. On this reference image</a:t>
            </a:r>
          </a:p>
          <a:p>
            <a:r>
              <a:t>the frozen thresholds (brightness cut-points on the corrected scale) are t_pore=0.7109, t_si=1.3354, t_core=1.5495</a:t>
            </a:r>
          </a:p>
          <a:p>
            <a:r>
              <a:t>(intensity units after flat-field normalisation).</a:t>
            </a:r>
          </a:p>
          <a:p/>
          <a:p>
            <a:r>
              <a:t>Teaching point: every 'material fraction' downstream is a function</a:t>
            </a:r>
          </a:p>
          <a:p>
            <a:r>
              <a:t>of where these vertical lines sit. When we later say '6% silicon',</a:t>
            </a:r>
          </a:p>
          <a:p>
            <a:r>
              <a:t>what we mean is '6% of pixels/objects fall right of t_si under the</a:t>
            </a:r>
          </a:p>
          <a:p>
            <a:r>
              <a:t>frozen recipe'. Different threshold = different measured world. That</a:t>
            </a:r>
          </a:p>
          <a:p>
            <a:r>
              <a:t>is why the recipe is frozen and versioned (recipe.json).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C05, C18 (floating Otsu counts MORE bright on</a:t>
            </a:r>
          </a:p>
          <a:p>
            <a:r>
              <a:t>flagged images: 20.7% vs 11.9%).</a:t>
            </a:r>
          </a:p>
          <a:p/>
          <a:p>
            <a:r>
              <a:t>This is the project's core metrology lesson: 'new data must not</a:t>
            </a:r>
          </a:p>
          <a:p>
            <a:r>
              <a:t>silently recalibrate their own ruler'. If the threshold is refit per</a:t>
            </a:r>
          </a:p>
          <a:p>
            <a:r>
              <a:t>image, then a batch with genuinely more bright material just moves</a:t>
            </a:r>
          </a:p>
          <a:p>
            <a:r>
              <a:t>the cut higher and reports a similar fraction — the ruler bends to</a:t>
            </a:r>
          </a:p>
          <a:p>
            <a:r>
              <a:t>fit the anomaly. The vcompare recipe therefore fits thresholds on the</a:t>
            </a:r>
          </a:p>
          <a:p>
            <a:r>
              <a:t>baseline (Batch_3) pixels only, freezes them in recipe.json, and</a:t>
            </a:r>
          </a:p>
          <a:p>
            <a:r>
              <a:t>applies them unchanged to every image.</a:t>
            </a:r>
          </a:p>
          <a:p/>
          <a:p>
            <a:r>
              <a:t>Caveat taught here: freezing can OVER-detect too (on the dim</a:t>
            </a:r>
          </a:p>
          <a:p>
            <a:r>
              <a:t>Batch_1 photos, floating Otsu actually finds MORE bright material</a:t>
            </a:r>
          </a:p>
          <a:p>
            <a:r>
              <a:t>than frozen — direction of bias is not guaranteed). The defence is</a:t>
            </a:r>
          </a:p>
          <a:p>
            <a:r>
              <a:t>not that frozen is unbiased, it is that frozen is COMPARABLE —</a:t>
            </a:r>
          </a:p>
          <a:p>
            <a:r>
              <a:t>every image is judged by the same ruler, and the ruler's own</a:t>
            </a:r>
          </a:p>
          <a:p>
            <a:r>
              <a:t>uncertainty (threshold sweep) is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C07 (size floors).</a:t>
            </a:r>
          </a:p>
          <a:p/>
          <a:p>
            <a:r>
              <a:t>The watershed step converts a binary mask into countable objects.</a:t>
            </a:r>
          </a:p>
          <a:p>
            <a:r>
              <a:t>Two teaching cautions: (a) splitting quality sets the floor of every</a:t>
            </a:r>
          </a:p>
          <a:p>
            <a:r>
              <a:t>geometry metric — if two particles stay fused, D50 is inflated; if a</a:t>
            </a:r>
          </a:p>
          <a:p>
            <a:r>
              <a:t>particle is over-split, D50 is deflated; (b) the minimum-size floor</a:t>
            </a:r>
          </a:p>
          <a:p>
            <a:r>
              <a:t>is a deliberate recipe choice that removes sub-resolution dust, and the</a:t>
            </a:r>
          </a:p>
          <a:p>
            <a:r>
              <a:t>same floor must apply to every image or counts are incomparable.</a:t>
            </a:r>
          </a:p>
          <a:p/>
          <a:p>
            <a:r>
              <a:t>The distance-transform visual (shown in fig) makes the mechanism</a:t>
            </a:r>
          </a:p>
          <a:p>
            <a:r>
              <a:t>intuitive: each bright blob is a landscape, watershed floods from the</a:t>
            </a:r>
          </a:p>
          <a:p>
            <a:r>
              <a:t>peaks, and ridges become object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C08 (classifier rule), C21 (the r=0.27</a:t>
            </a:r>
          </a:p>
          <a:p>
            <a:r>
              <a:t>disagreement), C44 (up to ~11 pt disagreement on disputed photos).</a:t>
            </a:r>
          </a:p>
          <a:p/>
          <a:p>
            <a:r>
              <a:t>The classifier is a two-gate rule: an object counts as a silicon</a:t>
            </a:r>
          </a:p>
          <a:p>
            <a:r>
              <a:t>particle only if (a) its interior (eroded core) is bright enough to</a:t>
            </a:r>
          </a:p>
          <a:p>
            <a:r>
              <a:t>clear t_core — removing rim/edge highlights whose cores are bulk —</a:t>
            </a:r>
          </a:p>
          <a:p>
            <a:r>
              <a:t>and (b) it is solid enough — removing ragged dust and crescents.</a:t>
            </a:r>
          </a:p>
          <a:p>
            <a:r>
              <a:t>t_core is calibrated as the 5th-percentile interior intensity of</a:t>
            </a:r>
          </a:p>
          <a:p>
            <a:r>
              <a:t>unambiguous reference particles: a recipe assumption, versioned, not</a:t>
            </a:r>
          </a:p>
          <a:p>
            <a:r>
              <a:t>measured truth.</a:t>
            </a:r>
          </a:p>
          <a:p/>
          <a:p>
            <a:r>
              <a:t>On most images this changes little (~6% classified Si everywhere).</a:t>
            </a:r>
          </a:p>
          <a:p>
            <a:r>
              <a:t>On the three anomalous Batch_1 regions it decides the entire</a:t>
            </a:r>
          </a:p>
          <a:p>
            <a:r>
              <a:t>interpretation: count the ambiguous material as silicon (QC's</a:t>
            </a:r>
          </a:p>
          <a:p>
            <a:r>
              <a:t>generous convention) and Si jumps to ~11-12%; apply the particle</a:t>
            </a:r>
          </a:p>
          <a:p>
            <a:r>
              <a:t>gates (micro2dfn) and most of it drops to 'bright_fine'. SAME pixels,</a:t>
            </a:r>
          </a:p>
          <a:p>
            <a:r>
              <a:t>different label, different story — the perfect illustration that</a:t>
            </a:r>
          </a:p>
          <a:p>
            <a:r>
              <a:t>classification is a model, not a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example: the circled particle is ~2.97 µm</a:t>
            </a:r>
          </a:p>
          <a:p>
            <a:r>
              <a:t>equivalent diameter; its boundary sits ~0.07 µm from the nearest pore</a:t>
            </a:r>
          </a:p>
          <a:p>
            <a:r>
              <a:t>(essentially pore-adjacent — good for lithium access in the model's</a:t>
            </a:r>
          </a:p>
          <a:p>
            <a:r>
              <a:t>language).</a:t>
            </a:r>
          </a:p>
          <a:p/>
          <a:p>
            <a:r>
              <a:t>Three measurement ideas to teach:</a:t>
            </a:r>
          </a:p>
          <a:p>
            <a:r>
              <a:t>1. Equivalent diameter converts an arbitrary blob to the diameter of</a:t>
            </a:r>
          </a:p>
          <a:p>
            <a:r>
              <a:t>   the equal-area circle — area-weighted D50 then summarises a batch</a:t>
            </a:r>
          </a:p>
          <a:p>
            <a:r>
              <a:t>   without letting dust dominate.</a:t>
            </a:r>
          </a:p>
          <a:p>
            <a:r>
              <a:t>2. The distance transform answers 'how far is each Si boundary from</a:t>
            </a:r>
          </a:p>
          <a:p>
            <a:r>
              <a:t>   electrolyte space' — a 2-D stand-in for wetting (real wetting is</a:t>
            </a:r>
          </a:p>
          <a:p>
            <a:r>
              <a:t>   3-D; flagged as a limitation).</a:t>
            </a:r>
          </a:p>
          <a:p>
            <a:r>
              <a:t>3. Largest-connected-region share measures whether pores form one</a:t>
            </a:r>
          </a:p>
          <a:p>
            <a:r>
              <a:t>   network or many fragments — 2-D connectivity only; a section can</a:t>
            </a:r>
          </a:p>
          <a:p>
            <a:r>
              <a:t>   slice through a connected 3-D network and look fragmented.</a:t>
            </a:r>
          </a:p>
          <a:p/>
          <a:p>
            <a:r>
              <a:t>Every one of ~30 markers in metric_dictionary.csv is built from these</a:t>
            </a:r>
          </a:p>
          <a:p>
            <a:r>
              <a:t>three primitives: sizes, distances,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 dictionary turns 'the pipeline outputs</a:t>
            </a:r>
          </a:p>
          <a:p>
            <a:r>
              <a:t>numbers' into 'each number has a declared meaning and a declared</a:t>
            </a:r>
          </a:p>
          <a:p>
            <a:r>
              <a:t>failure mode'.</a:t>
            </a:r>
          </a:p>
          <a:p/>
          <a:p>
            <a:r>
              <a:t>The five evidence classes are the deck's honesty grammar. If a</a:t>
            </a:r>
          </a:p>
          <a:p>
            <a:r>
              <a:t>student quotes 'silicon fraction 6%', the dictionary asks: measured</a:t>
            </a:r>
          </a:p>
          <a:p>
            <a:r>
              <a:t>under which recipe? Answer: image-derived under frozen thresholds,</a:t>
            </a:r>
          </a:p>
          <a:p>
            <a:r>
              <a:t>classifier-dependent — the same pixels give ~11% under the QC</a:t>
            </a:r>
          </a:p>
          <a:p>
            <a:r>
              <a:t>convention.</a:t>
            </a:r>
          </a:p>
          <a:p/>
          <a:p>
            <a:r>
              <a:t>The watchlist exists because 30 markers is too many to hold in your</a:t>
            </a:r>
          </a:p>
          <a:p>
            <a:r>
              <a:t>head — the 8 grouped metrics carry essentially all the</a:t>
            </a:r>
          </a:p>
          <a:p>
            <a:r>
              <a:t>interpretation in this dataset. Everything else is supporting 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C09 (design), C25 (the corrected 1/17 false</a:t>
            </a:r>
          </a:p>
          <a:p>
            <a:r>
              <a:t>alarm), C48 (MDD on all 24 non-sig rows).</a:t>
            </a:r>
          </a:p>
          <a:p/>
          <a:p>
            <a:r>
              <a:t>Exact permutation is the right test here because n is small and the</a:t>
            </a:r>
          </a:p>
          <a:p>
            <a:r>
              <a:t>data need no distribution assumption: if batch labels meant nothing,</a:t>
            </a:r>
          </a:p>
          <a:p>
            <a:r>
              <a:t>any of the 346,104 ways to split 24 images into 7+17 is equally</a:t>
            </a:r>
          </a:p>
          <a:p>
            <a:r>
              <a:t>likely — the observed median difference is ranked against ALL of</a:t>
            </a:r>
          </a:p>
          <a:p>
            <a:r>
              <a:t>them. No normality, no asymptotics.</a:t>
            </a:r>
          </a:p>
          <a:p/>
          <a:p>
            <a:r>
              <a:t>The honesty hook for students: the original analysis reported a</a:t>
            </a:r>
          </a:p>
          <a:p>
            <a:r>
              <a:t>'flag &gt;= 2.73' threshold with zero reference exceedances, implying a</a:t>
            </a:r>
          </a:p>
          <a:p>
            <a:r>
              <a:t>perfectly clean baseline. Re-running with reference-only weights and</a:t>
            </a:r>
          </a:p>
          <a:p>
            <a:r>
              <a:t>leave-one-out calibration found 1 of 17 reference images DOES exceed</a:t>
            </a:r>
          </a:p>
          <a:p>
            <a:r>
              <a:t>its own flag threshold. With n=17 that is a measured exceedance rate</a:t>
            </a:r>
          </a:p>
          <a:p>
            <a:r>
              <a:t>of 5.9% with a wide CI — and it downgraded the Batch_1 verdict from</a:t>
            </a:r>
          </a:p>
          <a:p>
            <a:r>
              <a:t>REJECT to INVESTIGATE under the stricter calibration. Small-n</a:t>
            </a:r>
          </a:p>
          <a:p>
            <a:r>
              <a:t>calibration is fragile; this deck treats the corrected version as</a:t>
            </a:r>
          </a:p>
          <a:p>
            <a:r>
              <a:t>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C10, C11 (the supported finding), C12 (B2's</a:t>
            </a:r>
          </a:p>
          <a:p>
            <a:r>
              <a:t>raw-only shift), C13 (Si MDD ~0.024).</a:t>
            </a:r>
          </a:p>
          <a:p/>
          <a:p>
            <a:r>
              <a:t>Read the dot grid row by row. Only two cells survive the FDR</a:t>
            </a:r>
          </a:p>
          <a:p>
            <a:r>
              <a:t>correction — both are the pore-count family for Batch_1 vs Batch_3.</a:t>
            </a:r>
          </a:p>
          <a:p>
            <a:r>
              <a:t>Everything else is 'not established at this n', with MDDs quoted so</a:t>
            </a:r>
          </a:p>
          <a:p>
            <a:r>
              <a:t>the reader knows how big a difference could still be hiding.</a:t>
            </a:r>
          </a:p>
          <a:p/>
          <a:p>
            <a:r>
              <a:t>The most instructive non-result: classified Si fraction is flat</a:t>
            </a:r>
          </a:p>
          <a:p>
            <a:r>
              <a:t>across batches (~6%) — under THIS recipe. The Batch_1 anomaly that</a:t>
            </a:r>
          </a:p>
          <a:p>
            <a:r>
              <a:t>dominates later slides is NOT a batch-level Si-fraction shift; it is</a:t>
            </a:r>
          </a:p>
          <a:p>
            <a:r>
              <a:t>three-of-seven heterogeneous regions with unusual bright material —</a:t>
            </a:r>
          </a:p>
          <a:p>
            <a:r>
              <a:t>a different statistical object entirely (consensus exceedance, not a</a:t>
            </a:r>
          </a:p>
          <a:p>
            <a:r>
              <a:t>median shift).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C10 — and the figure is self-verifying: it</a:t>
            </a:r>
          </a:p>
          <a:p>
            <a:r>
              <a:t>recomputes the permutation distribution from the per-image table and</a:t>
            </a:r>
          </a:p>
          <a:p>
            <a:r>
              <a:t>lands on the identical p-value stored in pairwise_comparisons.csv.</a:t>
            </a:r>
          </a:p>
          <a:p/>
          <a:p>
            <a:r>
              <a:t>Explain the histogram: each bar is one way the world could look if</a:t>
            </a:r>
          </a:p>
          <a:p>
            <a:r>
              <a:t>batch labels were meaningless. The observed +34.5 difference (orange</a:t>
            </a:r>
          </a:p>
          <a:p>
            <a:r>
              <a:t>line) exceeds essentially all of them — 165 splits out of 346,104</a:t>
            </a:r>
          </a:p>
          <a:p>
            <a:r>
              <a:t>reach or beat it, hence p = 0.000477.</a:t>
            </a:r>
          </a:p>
          <a:p/>
          <a:p>
            <a:r>
              <a:t>Contrast with parametric tests: a t-test would assume approximate</a:t>
            </a:r>
          </a:p>
          <a:p>
            <a:r>
              <a:t>normality of the median difference; with n=7 in one group that</a:t>
            </a:r>
          </a:p>
          <a:p>
            <a:r>
              <a:t>assumption is unverifiable. Enumeration replaces assumption with</a:t>
            </a:r>
          </a:p>
          <a:p>
            <a:r>
              <a:t>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C11, C12; noise model parameters from</a:t>
            </a:r>
          </a:p>
          <a:p>
            <a:r>
              <a:t>recipe.json (slope 6.18 pores per MAD unit, R²~0.51).</a:t>
            </a:r>
          </a:p>
          <a:p/>
          <a:p>
            <a:r>
              <a:t>This slide teaches confounding at its purest: the 'extra pores' in</a:t>
            </a:r>
          </a:p>
          <a:p>
            <a:r>
              <a:t>noisier photos are partly counting noise specks, not real voids. The</a:t>
            </a:r>
          </a:p>
          <a:p>
            <a:r>
              <a:t>adjustment regresses raw pore count on the noise guard metric —</a:t>
            </a:r>
          </a:p>
          <a:p>
            <a:r>
              <a:t>fitted on the 17 reference images ONLY, so the correction model</a:t>
            </a:r>
          </a:p>
          <a:p>
            <a:r>
              <a:t>cannot be tuned to make the batches look similar or different — then</a:t>
            </a:r>
          </a:p>
          <a:p>
            <a:r>
              <a:t>re-runs the identical permutation test on adjusted counts.</a:t>
            </a:r>
          </a:p>
          <a:p/>
          <a:p>
            <a:r>
              <a:t>Two different lessons land at once:</a:t>
            </a:r>
          </a:p>
          <a:p>
            <a:r>
              <a:t>- Batch_1's excess is NOT explained by noise → the finding survives.</a:t>
            </a:r>
          </a:p>
          <a:p>
            <a:r>
              <a:t>- Batch_2's raw-count 'difference' was largely a photography effect →</a:t>
            </a:r>
          </a:p>
          <a:p>
            <a:r>
              <a:t>  an honest pipeline must report this as 'possible before, gone after</a:t>
            </a:r>
          </a:p>
          <a:p>
            <a:r>
              <a:t>  adjustment', which is exactly what START_HERE.md does.</a:t>
            </a:r>
          </a:p>
          <a:p/>
          <a:p>
            <a:r>
              <a:t>Also note R²~0.51: noise explains about half the count variance, so</a:t>
            </a:r>
          </a:p>
          <a:p>
            <a:r>
              <a:t>the residual is still a noisy measure — another reason the result is</a:t>
            </a:r>
          </a:p>
          <a:p>
            <a:r>
              <a:t>reported as 'resolved pore COUNT differs', not 'porosity differs'.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C26 (LOO p&lt;=0.0016).</a:t>
            </a:r>
          </a:p>
          <a:p/>
          <a:p>
            <a:r>
              <a:t>Two distinct signals live in Batch_1 and students must keep them</a:t>
            </a:r>
          </a:p>
          <a:p>
            <a:r>
              <a:t>separate:</a:t>
            </a:r>
          </a:p>
          <a:p>
            <a:r>
              <a:t>1. A UNIFORM shift — resolved pore counts elevated in ALL SEVEN</a:t>
            </a:r>
          </a:p>
          <a:p>
            <a:r>
              <a:t>   Batch_1 images relative to Batch_3. The LOO sweep proves no single</a:t>
            </a:r>
          </a:p>
          <a:p>
            <a:r>
              <a:t>   image drives it. This is the supported comparison finding.</a:t>
            </a:r>
          </a:p>
          <a:p>
            <a:r>
              <a:t>2. A HETEROGENEOUS anomaly — three of the seven regions carry</a:t>
            </a:r>
          </a:p>
          <a:p>
            <a:r>
              <a:t>   unusual bright material. Median-based tests are blind to</a:t>
            </a:r>
          </a:p>
          <a:p>
            <a:r>
              <a:t>   3-of-7 heterogeneity (medians absorb minorities); that is why the</a:t>
            </a:r>
          </a:p>
          <a:p>
            <a:r>
              <a:t>   QC layer uses per-region flags + consensus-exceedance counting</a:t>
            </a:r>
          </a:p>
          <a:p>
            <a:r>
              <a:t>   instead.</a:t>
            </a:r>
          </a:p>
          <a:p/>
          <a:p>
            <a:r>
              <a:t>The LOO figure's flat p-line near the floor is what 'robust' looks</a:t>
            </a:r>
          </a:p>
          <a:p>
            <a:r>
              <a:t>like; if dropping one image swung the p-value, the finding would be</a:t>
            </a:r>
          </a:p>
          <a:p>
            <a:r>
              <a:t>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C41 (10.7-12.5% vs 7.7%), C14 (contrast</a:t>
            </a:r>
          </a:p>
          <a:p>
            <a:r>
              <a:t>values), C20 (f1vzngrs normal contrast, z=+2.4 bright).</a:t>
            </a:r>
          </a:p>
          <a:p/>
          <a:p>
            <a:r>
              <a:t>Set up the mystery honestly. Under the QC convention (all bright</a:t>
            </a:r>
          </a:p>
          <a:p>
            <a:r>
              <a:t>material counted), these three regions carry 10.7-12.5% bright</a:t>
            </a:r>
          </a:p>
          <a:p>
            <a:r>
              <a:t>material against a baseline median of 7.7% (max 10.7%). Two of the</a:t>
            </a:r>
          </a:p>
          <a:p>
            <a:r>
              <a:t>three photos are measurably dimmer in silicon contrast — which cuts</a:t>
            </a:r>
          </a:p>
          <a:p>
            <a:r>
              <a:t>BOTH ways: dimmer Si could mean a real composition change (e.g. a</a:t>
            </a:r>
          </a:p>
          <a:p>
            <a:r>
              <a:t>SiOx-richer grade) OR an acquisition/contrast drift that smears</a:t>
            </a:r>
          </a:p>
          <a:p>
            <a:r>
              <a:t>borderline pixels into the bright bin. The third region shows the</a:t>
            </a:r>
          </a:p>
          <a:p>
            <a:r>
              <a:t>excess at normal contrast, which is why the anomaly cannot be waved</a:t>
            </a:r>
          </a:p>
          <a:p>
            <a:r>
              <a:t>away as 'just the photography'.</a:t>
            </a:r>
          </a:p>
          <a:p/>
          <a:p>
            <a:r>
              <a:t>What we do NOT say: 'Batch_1 has more silicon'. Batch-level median</a:t>
            </a:r>
          </a:p>
          <a:p>
            <a:r>
              <a:t>Si fraction is ~6% like the others; this is a 3-of-7 regional</a:t>
            </a:r>
          </a:p>
          <a:p>
            <a:r>
              <a:t>anomaly, and its chemical identity is unresolved.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C16–C20 — walk the six tests.</a:t>
            </a:r>
          </a:p>
          <a:p/>
          <a:p>
            <a:r>
              <a:t>T1 (contrast-corrected re-classification): after correcting each</a:t>
            </a:r>
          </a:p>
          <a:p>
            <a:r>
              <a:t>flagged region's contrast to baseline, 94% of ambiguous bright</a:t>
            </a:r>
          </a:p>
          <a:p>
            <a:r>
              <a:t>objects pass the particle cut — vs only 45% in matched baseline</a:t>
            </a:r>
          </a:p>
          <a:p>
            <a:r>
              <a:t>controls. The objects WANT to be particles.</a:t>
            </a:r>
          </a:p>
          <a:p/>
          <a:p>
            <a:r>
              <a:t>T2 (morphology): ambiguous objects are compact discs ~1.05 µm,</a:t>
            </a:r>
          </a:p>
          <a:p>
            <a:r>
              <a:t>solidity 0.82 (vs 0.88 for classified Si), only 8% touch image</a:t>
            </a:r>
          </a:p>
          <a:p>
            <a:r>
              <a:t>borders. Particle-like, slightly softer-edged — consistent with fine</a:t>
            </a:r>
          </a:p>
          <a:p>
            <a:r>
              <a:t>or dimmer silicon.</a:t>
            </a:r>
          </a:p>
          <a:p/>
          <a:p>
            <a:r>
              <a:t>T3 (rim check): adjacent objects are compact discs, not crescent</a:t>
            </a:r>
          </a:p>
          <a:p>
            <a:r>
              <a:t>rims — rules out 'pore-edge halo artefact'.</a:t>
            </a:r>
          </a:p>
          <a:p/>
          <a:p>
            <a:r>
              <a:t>T4 (floating threshold): per-image Otsu finds MORE bright material</a:t>
            </a:r>
          </a:p>
          <a:p>
            <a:r>
              <a:t>(20.7% vs 11.9% frozen) — the frozen threshold is if anything</a:t>
            </a:r>
          </a:p>
          <a:p>
            <a:r>
              <a:t>conservative on these photos.</a:t>
            </a:r>
          </a:p>
          <a:p/>
          <a:p>
            <a:r>
              <a:t>T5 (texture): in ETD and InLens the ambiguous material textures like</a:t>
            </a:r>
          </a:p>
          <a:p>
            <a:r>
              <a:t>classified silicon (ratios 1.20/1.23), not like polished-flat resin.</a:t>
            </a:r>
          </a:p>
          <a:p/>
          <a:p>
            <a:r>
              <a:t>T6 (distribution): whole-image median shift ~z=0.0 but bright-tail</a:t>
            </a:r>
          </a:p>
          <a:p>
            <a:r>
              <a:t>shift z=1.8 — the anomaly lives in the tail, like a sub-population</a:t>
            </a:r>
          </a:p>
          <a:p>
            <a:r>
              <a:t>of extra-bright objects.</a:t>
            </a:r>
          </a:p>
          <a:p/>
          <a:p>
            <a:r>
              <a:t>Verdict of the adjudication: LIKELY FINE SILICON (or silicon-family).</a:t>
            </a:r>
          </a:p>
          <a:p>
            <a:r>
              <a:t>What remains open: chemical identity — EDS or equivalent is the only</a:t>
            </a:r>
          </a:p>
          <a:p>
            <a:r>
              <a:t>way to close it. And the dimmer contrast on 2/3 photos is a real</a:t>
            </a:r>
          </a:p>
          <a:p>
            <a:r>
              <a:t>secondary anomaly (acquisition drift or dimmer-Si grade) that no</a:t>
            </a:r>
          </a:p>
          <a:p>
            <a:r>
              <a:t>amount of re-thresholding fully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C21, C22, C23 (original REJECT), C24 (corrected</a:t>
            </a:r>
          </a:p>
          <a:p>
            <a:r>
              <a:t>INVESTIGATE), C47 (verdict semantics).</a:t>
            </a:r>
          </a:p>
          <a:p/>
          <a:p>
            <a:r>
              <a:t>The crosswalk figure is the empirical heart of the reconciliation:</a:t>
            </a:r>
          </a:p>
          <a:p>
            <a:r>
              <a:t>the two pipelines are not 'two answers', they are one measurement</a:t>
            </a:r>
          </a:p>
          <a:p>
            <a:r>
              <a:t>plus one naming disagreement. r=1.00 on porosity, 0.96-0.92 on</a:t>
            </a:r>
          </a:p>
          <a:p>
            <a:r>
              <a:t>anisotropy/alignment/raw bright — and 0.27 on classified Si. The</a:t>
            </a:r>
          </a:p>
          <a:p>
            <a:r>
              <a:t>divergence is exactly the si_particle-vs-bright_fine gate, nothing</a:t>
            </a:r>
          </a:p>
          <a:p>
            <a:r>
              <a:t>else.</a:t>
            </a:r>
          </a:p>
          <a:p/>
          <a:p>
            <a:r>
              <a:t>Verdict semantics need care. QC 'REJECT' is a similarity statement</a:t>
            </a:r>
          </a:p>
          <a:p>
            <a:r>
              <a:t>under a specific calibration — 'beyond the baseline envelope on the</a:t>
            </a:r>
          </a:p>
          <a:p>
            <a:r>
              <a:t>matched defect signature' — which triggered quarantine + root-cause</a:t>
            </a:r>
          </a:p>
          <a:p>
            <a:r>
              <a:t>in the workflow, not a product-failure claim. The corrected</a:t>
            </a:r>
          </a:p>
          <a:p>
            <a:r>
              <a:t>calibration (reference-only weights, held-out T², measured 1/17</a:t>
            </a:r>
          </a:p>
          <a:p>
            <a:r>
              <a:t>baseline exceedance) demotes it to INVESTIGATE: the anomaly is real,</a:t>
            </a:r>
          </a:p>
          <a:p>
            <a:r>
              <a:t>the confidence in the severity label was overstated. Both statements</a:t>
            </a:r>
          </a:p>
          <a:p>
            <a:r>
              <a:t>are true; the second is the defensible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synthesis of C16–C24, C41, C45.</a:t>
            </a:r>
          </a:p>
          <a:p/>
          <a:p>
            <a:r>
              <a:t>This is the slide a student should be able to reproduce from memory</a:t>
            </a:r>
          </a:p>
          <a:p>
            <a:r>
              <a:t>— the discipline of separating 'established', 'best-supported</a:t>
            </a:r>
          </a:p>
          <a:p>
            <a:r>
              <a:t>interpretation', and 'open'.</a:t>
            </a:r>
          </a:p>
          <a:p/>
          <a:p>
            <a:r>
              <a:t>Notice what is deliberately absent: 'Batch_1 is worse'. The evidence</a:t>
            </a:r>
          </a:p>
          <a:p>
            <a:r>
              <a:t>says 'Batch_1 is heterogeneous and carries a likely-fine-silicon</a:t>
            </a:r>
          </a:p>
          <a:p>
            <a:r>
              <a:t>excess in 3 of 7 regions plus a uniform pore-count shift'. Whether</a:t>
            </a:r>
          </a:p>
          <a:p>
            <a:r>
              <a:t>that is worse for a cell is a different question the images cannot</a:t>
            </a:r>
          </a:p>
          <a:p>
            <a:r>
              <a:t>answer, and the DFN section will show the model indicators mostly</a:t>
            </a:r>
          </a:p>
          <a:p>
            <a:r>
              <a:t>sit inside the assumption band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C49 (model+parameter sets).</a:t>
            </a:r>
          </a:p>
          <a:p/>
          <a:p>
            <a:r>
              <a:t>The DFN model (Doyle, Fuller &amp; Newman 1993) treats each electrode as</a:t>
            </a:r>
          </a:p>
          <a:p>
            <a:r>
              <a:t>a porous continuum: liquid-phase lithium transport across the</a:t>
            </a:r>
          </a:p>
          <a:p>
            <a:r>
              <a:t>thickness, solid-state diffusion inside representative spherical</a:t>
            </a:r>
          </a:p>
          <a:p>
            <a:r>
              <a:t>particles at every position, Butler-Volmer kinetics at the</a:t>
            </a:r>
          </a:p>
          <a:p>
            <a:r>
              <a:t>interface. PyBaMM's Chen2020_composite set adds a SECOND active</a:t>
            </a:r>
          </a:p>
          <a:p>
            <a:r>
              <a:t>material (silicon) alongside graphite in the negative electrode —</a:t>
            </a:r>
          </a:p>
          <a:p>
            <a:r>
              <a:t>the right skeleton for a Si/Gr blend.</a:t>
            </a:r>
          </a:p>
          <a:p/>
          <a:p>
            <a:r>
              <a:t>What the image contributes: porosity, Si fraction, Si particle</a:t>
            </a:r>
          </a:p>
          <a:p>
            <a:r>
              <a:t>radius, and connectivity proxies — i.e., the GEOMETRY inputs. What</a:t>
            </a:r>
          </a:p>
          <a:p>
            <a:r>
              <a:t>the image cannot contribute: kinetics, electrolyte properties,</a:t>
            </a:r>
          </a:p>
          <a:p>
            <a:r>
              <a:t>electrode thickness, sub-resolution porosity — declared assumptions</a:t>
            </a:r>
          </a:p>
          <a:p>
            <a:r>
              <a:t>swept over bands.</a:t>
            </a:r>
          </a:p>
          <a:p/>
          <a:p>
            <a:r>
              <a:t>Primary citations for notes: Doyle/Fuller/Newman JECS 140(6) 1993;</a:t>
            </a:r>
          </a:p>
          <a:p>
            <a:r>
              <a:t>Chen et al. PhysChemChemPhys 2020 (parameter set); OKane et al.</a:t>
            </a:r>
          </a:p>
          <a:p>
            <a:r>
              <a:t>PhysChemChemPhys 2022 (degradation constants); Bonkile &amp; Ramadesigan</a:t>
            </a:r>
          </a:p>
          <a:p>
            <a:r>
              <a:t>J. Power Sources 2024 (silicon mechanics).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C43.</a:t>
            </a:r>
          </a:p>
          <a:p/>
          <a:p>
            <a:r>
              <a:t>The mechanism everyone must own: silicon's capacity advantage comes</a:t>
            </a:r>
          </a:p>
          <a:p>
            <a:r>
              <a:t>with ~3x volume change on lithiation vs ~10% for graphite. In the</a:t>
            </a:r>
          </a:p>
          <a:p>
            <a:r>
              <a:t>model this drives (a) surface stress on Si particles (a stress-LAM</a:t>
            </a:r>
          </a:p>
          <a:p>
            <a:r>
              <a:t>term converts stress into active-material loss), (b) electrode</a:t>
            </a:r>
          </a:p>
          <a:p>
            <a:r>
              <a:t>thickness growth, and (c) consumption of pore volume.</a:t>
            </a:r>
          </a:p>
          <a:p/>
          <a:p>
            <a:r>
              <a:t>The 'swelling budget' proxy = resolved pore fraction minus the</a:t>
            </a:r>
          </a:p>
          <a:p>
            <a:r>
              <a:t>expansion demand of the measured Si and graphite fractions. It is a</a:t>
            </a:r>
          </a:p>
          <a:p>
            <a:r>
              <a:t>DIAGNOSTIC made from the same pixels as the inputs — useful for</a:t>
            </a:r>
          </a:p>
          <a:p>
            <a:r>
              <a:t>interpretation, explicitly NOT independent evidence and NOT a DFN</a:t>
            </a:r>
          </a:p>
          <a:p>
            <a:r>
              <a:t>input. On this dataset it is negative everywhere (the resolved pore</a:t>
            </a:r>
          </a:p>
          <a:p>
            <a:r>
              <a:t>space alone never covers nominal Si expansion) — another reason</a:t>
            </a:r>
          </a:p>
          <a:p>
            <a:r>
              <a:t>sub-resolution porosity has to be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C37, C38.</a:t>
            </a:r>
          </a:p>
          <a:p/>
          <a:p>
            <a:r>
              <a:t>Read the map left to right: measured quantities (solid edges) become</a:t>
            </a:r>
          </a:p>
          <a:p>
            <a:r>
              <a:t>model inputs only through declared transforms — each with its own</a:t>
            </a:r>
          </a:p>
          <a:p>
            <a:r>
              <a:t>uncertainty. The Si-active-fraction BRACKET is the elegant part: the</a:t>
            </a:r>
          </a:p>
          <a:p>
            <a:r>
              <a:t>low end counts only classifier-passed Si x pore-accessible share;</a:t>
            </a:r>
          </a:p>
          <a:p>
            <a:r>
              <a:t>the high end counts ALL ambiguous bright material as active silicon.</a:t>
            </a:r>
          </a:p>
          <a:p>
            <a:r>
              <a:t>The classifier disagreement is thus carried into the model as an</a:t>
            </a:r>
          </a:p>
          <a:p>
            <a:r>
              <a:t>explicit uncertainty bracket rather than being silently resolved.</a:t>
            </a:r>
          </a:p>
          <a:p/>
          <a:p>
            <a:r>
              <a:t>The uncomfortable fact to state plainly: the one supported batch</a:t>
            </a:r>
          </a:p>
          <a:p>
            <a:r>
              <a:t>finding (pore count) does not enter the model at all — pore count is</a:t>
            </a:r>
          </a:p>
          <a:p>
            <a:r>
              <a:t>a count, while porosity (the fraction) is the input, and porosity is</a:t>
            </a:r>
          </a:p>
          <a:p>
            <a:r>
              <a:t>not significantly different between batches. So the DFN comparison</a:t>
            </a:r>
          </a:p>
          <a:p>
            <a:r>
              <a:t>answers a DIFFERENT question than the statistical comparison — it</a:t>
            </a:r>
          </a:p>
          <a:p>
            <a:r>
              <a:t>asks 'given the measured geometry bands, how much do consequence</a:t>
            </a:r>
          </a:p>
          <a:p>
            <a:r>
              <a:t>indicators move?'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C33 (reference cell values), model protocol</a:t>
            </a:r>
          </a:p>
          <a:p>
            <a:r>
              <a:t>from dfn_validation.md.</a:t>
            </a:r>
          </a:p>
          <a:p/>
          <a:p>
            <a:r>
              <a:t>Walk the four panels: voltage follows the 1C protocol (discharge to</a:t>
            </a:r>
          </a:p>
          <a:p>
            <a:r>
              <a:t>2.8 V, rest, charge to 4.2 V with CV hold to 50 mA, rest); current is</a:t>
            </a:r>
          </a:p>
          <a:p>
            <a:r>
              <a:t>the square-wave drive; the Si surface-stress panel shows the in-cycle</a:t>
            </a:r>
          </a:p>
          <a:p>
            <a:r>
              <a:t>peak during discharge (max lithiation) — THAT peak is the compared</a:t>
            </a:r>
          </a:p>
          <a:p>
            <a:r>
              <a:t>indicator, not a rest value; the thickness panel shows the electrode</a:t>
            </a:r>
          </a:p>
          <a:p>
            <a:r>
              <a:t>breathing ~12 µm on a ~75 µm stack.</a:t>
            </a:r>
          </a:p>
          <a:p/>
          <a:p>
            <a:r>
              <a:t>How 'capacity' is extracted: PyBaMM accumulates a discharge-capacity</a:t>
            </a:r>
          </a:p>
          <a:p>
            <a:r>
              <a:t>counter; per-cycle capacity is the counter's last-minus-first within</a:t>
            </a:r>
          </a:p>
          <a:p>
            <a:r>
              <a:t>the DISCHARGE step only (the figure annotates this). A bug in this</a:t>
            </a:r>
          </a:p>
          <a:p>
            <a:r>
              <a:t>diffing was found and fixed during validation — worth mentioning as</a:t>
            </a:r>
          </a:p>
          <a:p>
            <a:r>
              <a:t>an example of why the model layer needs self-checks.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C27 (17/17 converged), C29 (1.16 Ah IQR).</a:t>
            </a:r>
          </a:p>
          <a:p/>
          <a:p>
            <a:r>
              <a:t>This slide is the model honesty contract: since ~10 inputs are</a:t>
            </a:r>
          </a:p>
          <a:p>
            <a:r>
              <a:t>assumed bands, a single run would imply false precision. 17 points</a:t>
            </a:r>
          </a:p>
          <a:p>
            <a:r>
              <a:t>per batch sample the assumption hyper-rectangle around each batch's</a:t>
            </a:r>
          </a:p>
          <a:p>
            <a:r>
              <a:t>measured band. The output is therefore a BAND of predicted</a:t>
            </a:r>
          </a:p>
          <a:p>
            <a:r>
              <a:t>indicators per batch, and the honest comparison asks whether the</a:t>
            </a:r>
          </a:p>
          <a:p>
            <a:r>
              <a:t>bands separate — mostly they do not.</a:t>
            </a:r>
          </a:p>
          <a:p/>
          <a:p>
            <a:r>
              <a:t>The headline: pooled assumption-only spread on cycle-5 capacity is</a:t>
            </a:r>
          </a:p>
          <a:p>
            <a:r>
              <a:t>~1.16 Ah (IQR); the largest batch median difference is 0.15 Ah. The</a:t>
            </a:r>
          </a:p>
          <a:p>
            <a:r>
              <a:t>model cannot see batch differences through that fog — which is</a:t>
            </a:r>
          </a:p>
          <a:p>
            <a:r>
              <a:t>exactly why the comparison uses PAIRED differences at matched sweep</a:t>
            </a:r>
          </a:p>
          <a:p>
            <a:r>
              <a:t>indices (next slide), not absolute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C28–C32.</a:t>
            </a:r>
          </a:p>
          <a:p/>
          <a:p>
            <a:r>
              <a:t>Explain the pairing trick: at each of the 17 sweep indices the</a:t>
            </a:r>
          </a:p>
          <a:p>
            <a:r>
              <a:t>cathode is re-sized to hold the reference N/P constant, so</a:t>
            </a:r>
          </a:p>
          <a:p>
            <a:r>
              <a:t>differences reflect ANODE-geometry differences at matched</a:t>
            </a:r>
          </a:p>
          <a:p>
            <a:r>
              <a:t>assumptions — it is a paired design that removes the shared</a:t>
            </a:r>
          </a:p>
          <a:p>
            <a:r>
              <a:t>assumption axis to first order.</a:t>
            </a:r>
          </a:p>
          <a:p/>
          <a:p>
            <a:r>
              <a:t>Results:</a:t>
            </a:r>
          </a:p>
          <a:p>
            <a:r>
              <a:t>- capacity differences (+0.099, +0.150 Ah) are real model outputs but</a:t>
            </a:r>
          </a:p>
          <a:p>
            <a:r>
              <a:t>  sit below the pre-declared 0.25 Ah threshold — under the declared</a:t>
            </a:r>
          </a:p>
          <a:p>
            <a:r>
              <a:t>  rules they do NOT count as meaningful;</a:t>
            </a:r>
          </a:p>
          <a:p>
            <a:r>
              <a:t>- peak Si surface stress differs (−0.81, −1.59 MPa) beyond the 0.5</a:t>
            </a:r>
          </a:p>
          <a:p>
            <a:r>
              <a:t>  MPa bar — the one indicator that 'resolves' batches;</a:t>
            </a:r>
          </a:p>
          <a:p>
            <a:r>
              <a:t>- swelling (~0.1 µm) and min-anode-V stay under threshold.</a:t>
            </a:r>
          </a:p>
          <a:p/>
          <a:p>
            <a:r>
              <a:t>The honesty suffix: post-hoc, the stress difference correlates with</a:t>
            </a:r>
          </a:p>
          <a:p>
            <a:r>
              <a:t>assumed active-Si share (rho ~ −0.93 across the 51 runs) and ~0 with</a:t>
            </a:r>
          </a:p>
          <a:p>
            <a:r>
              <a:t>measured Si radius — i.e. the model is largely re-expressing the</a:t>
            </a:r>
          </a:p>
          <a:p>
            <a:r>
              <a:t>Si-share assumption bracket, not discovering new physics. All of</a:t>
            </a:r>
          </a:p>
          <a:p>
            <a:r>
              <a:t>this is model-conditional: no cell was ever built or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C34, C35, C36.</a:t>
            </a:r>
          </a:p>
          <a:p/>
          <a:p>
            <a:r>
              <a:t>Two teaching points.</a:t>
            </a:r>
          </a:p>
          <a:p/>
          <a:p>
            <a:r>
              <a:t>1. Validation ≠ accuracy. The 8/8 checks prove the code does what it</a:t>
            </a:r>
          </a:p>
          <a:p>
            <a:r>
              <a:t>   claims (protocol correct, counters diffed right, converged,</a:t>
            </a:r>
          </a:p>
          <a:p>
            <a:r>
              <a:t>   reference sane). They say nothing about whether the model predicts</a:t>
            </a:r>
          </a:p>
          <a:p>
            <a:r>
              <a:t>   real cells — that needs experimental data we do not have.</a:t>
            </a:r>
          </a:p>
          <a:p/>
          <a:p>
            <a:r>
              <a:t>2. The ablation is the cautionary tale: as shipped, the LAM</a:t>
            </a:r>
          </a:p>
          <a:p>
            <a:r>
              <a:t>   proportional constant was 1e-3/s vs the published 2.7778e-7/s</a:t>
            </a:r>
          </a:p>
          <a:p>
            <a:r>
              <a:t>   (3,600x too fast) and the SEI rate 1e-15 vs 1e-12 m/s (1,000x too</a:t>
            </a:r>
          </a:p>
          <a:p>
            <a:r>
              <a:t>   slow). The buggy model shredded ~29% capacity in 5 cycles —</a:t>
            </a:r>
          </a:p>
          <a:p>
            <a:r>
              <a:t>   obviously wrong only because we checked. Without the ablation the</a:t>
            </a:r>
          </a:p>
          <a:p>
            <a:r>
              <a:t>   pipeline would have produced confident, wrong, smooth-looking</a:t>
            </a:r>
          </a:p>
          <a:p>
            <a:r>
              <a:t>   numbers. Every 'validated' badge in this project means 'internally</a:t>
            </a:r>
          </a:p>
          <a:p>
            <a:r>
              <a:t>   consistent', never 'true'.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ledger slide — the whole project on one screen.</a:t>
            </a:r>
          </a:p>
          <a:p>
            <a:r>
              <a:t>The left column is the evidence-graded answer to the original</a:t>
            </a:r>
          </a:p>
          <a:p>
            <a:r>
              <a:t>question; the right column is the audit trail a reviewer should</a:t>
            </a:r>
          </a:p>
          <a:p>
            <a:r>
              <a:t>demand.</a:t>
            </a:r>
          </a:p>
          <a:p/>
          <a:p>
            <a:r>
              <a:t>If asked 'so is Batch_1 bad?' the honest answer is: 'Batch_1 is</a:t>
            </a:r>
          </a:p>
          <a:p>
            <a:r>
              <a:t>detectably different — a uniform pore-count shift plus a 3-of-7</a:t>
            </a:r>
          </a:p>
          <a:p>
            <a:r>
              <a:t>likely-fine-silicon anomaly — under a frozen recipe against the</a:t>
            </a:r>
          </a:p>
          <a:p>
            <a:r>
              <a:t>selected reference. Whether that difference matters for cells is</a:t>
            </a:r>
          </a:p>
          <a:p>
            <a:r>
              <a:t>unanswered; the model indicators that do resolve batches are</a:t>
            </a:r>
          </a:p>
          <a:p>
            <a:r>
              <a:t>assumption-dominated.'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C40.</a:t>
            </a:r>
          </a:p>
          <a:p/>
          <a:p>
            <a:r>
              <a:t>The new-image exercise demonstrates the correct posture for incoming</a:t>
            </a:r>
          </a:p>
          <a:p>
            <a:r>
              <a:t>data: run the FROZEN recipe, compute the 9 declared features, and ask</a:t>
            </a:r>
          </a:p>
          <a:p>
            <a:r>
              <a:t>which batch envelope the image falls inside — no re-fitting, no</a:t>
            </a:r>
          </a:p>
          <a:p>
            <a:r>
              <a:t>verdict. img_3e122cbj is the interesting one: it lands inside the</a:t>
            </a:r>
          </a:p>
          <a:p>
            <a:r>
              <a:t>Batch_1 envelope on the uncertain-bright fraction (0.086, vs the B1</a:t>
            </a:r>
          </a:p>
          <a:p>
            <a:r>
              <a:t>anomaly signature) plus the elevated noise-adjusted pore count (193)</a:t>
            </a:r>
          </a:p>
          <a:p>
            <a:r>
              <a:t>— i.e. it resembles the Batch_1 phenotype, a hypothesis worth</a:t>
            </a:r>
          </a:p>
          <a:p>
            <a:r>
              <a:t>following with EDS/re-imaging, not a provenance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roadmap.md operationalises every lesson in this deck</a:t>
            </a:r>
          </a:p>
          <a:p>
            <a:r>
              <a:t>as a stage gate: each step lists inputs, outputs, a responsible</a:t>
            </a:r>
          </a:p>
          <a:p>
            <a:r>
              <a:t>agent, and a pass/stop criterion. The three principles:</a:t>
            </a:r>
          </a:p>
          <a:p/>
          <a:p>
            <a:r>
              <a:t>1. Everything that can move is frozen and versioned before new data</a:t>
            </a:r>
          </a:p>
          <a:p>
            <a:r>
              <a:t>   arrive — including the decision rules, so 'what counts as a</a:t>
            </a:r>
          </a:p>
          <a:p>
            <a:r>
              <a:t>   difference' cannot be negotiated after seeing outcomes.</a:t>
            </a:r>
          </a:p>
          <a:p>
            <a:r>
              <a:t>2. Guards first: scale verification, contrast/noise checks, specimen</a:t>
            </a:r>
          </a:p>
          <a:p>
            <a:r>
              <a:t>   identity — a failed guard sends the batch to imaging review, not</a:t>
            </a:r>
          </a:p>
          <a:p>
            <a:r>
              <a:t>   into the verdict machinery.</a:t>
            </a:r>
          </a:p>
          <a:p>
            <a:r>
              <a:t>3. Evaluation at the image unit with results saved before unblinding</a:t>
            </a:r>
          </a:p>
          <a:p>
            <a:r>
              <a:t>   — so the statistics stay honest.</a:t>
            </a:r>
          </a:p>
          <a:p/>
          <a:p>
            <a:r>
              <a:t>Then the prioritized follow-ups: controlled repeat imaging (resolves</a:t>
            </a:r>
          </a:p>
          <a:p>
            <a:r>
              <a:t>acquisition-vs-material), blind expert annotation (gives the</a:t>
            </a:r>
          </a:p>
          <a:p>
            <a:r>
              <a:t>classifier an eval target it currently lacks), targeted EDS (closes</a:t>
            </a:r>
          </a:p>
          <a:p>
            <a:r>
              <a:t>the chemistry question), measured thickness/porosity (shrinks the</a:t>
            </a:r>
          </a:p>
          <a:p>
            <a:r>
              <a:t>assumption bands), electrochemical testing (grounds the</a:t>
            </a:r>
          </a:p>
          <a:p>
            <a:r>
              <a:t>indicators).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C42 — WITHDRAWN (was exploratory).</a:t>
            </a:r>
          </a:p>
          <a:p/>
          <a:p>
            <a:r>
              <a:t>The retraction slide. We reported an orientation direction for weeks:</a:t>
            </a:r>
          </a:p>
          <a:p>
            <a:r>
              <a:t>pores preferred the vertical/through-plane direction by object shape,</a:t>
            </a:r>
          </a:p>
          <a:p>
            <a:r>
              <a:t>and an FFT energy ratio 'agreed'. The audit found the FFT metric reads</a:t>
            </a:r>
          </a:p>
          <a:p>
            <a:r>
              <a:t>the frame's aspect ratio — pure noise scores +0.7 at the images'</a:t>
            </a:r>
          </a:p>
          <a:p>
            <a:r>
              <a:t>1034x3500 shape — and a direct autocorrelation shows slightly</a:t>
            </a:r>
          </a:p>
          <a:p>
            <a:r>
              <a:t>HORIZONTALLY elongated features, the opposite of the claim. The lesson</a:t>
            </a:r>
          </a:p>
          <a:p>
            <a:r>
              <a:t>is the process: every metric needs a null control (what does it score</a:t>
            </a:r>
          </a:p>
          <a:p>
            <a:r>
              <a:t>on pure noise?), and an 'exploratory' flag does not exempt a claim from</a:t>
            </a:r>
          </a:p>
          <a:p>
            <a:r>
              <a:t>a mechanism check. Kept in the deck because the retraction is better</a:t>
            </a:r>
          </a:p>
          <a:p>
            <a:r>
              <a:t>teaching material than the original slide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five transferable lessons — each one a</a:t>
            </a:r>
          </a:p>
          <a:p>
            <a:r>
              <a:t>general analysis principle demonstrated by this specific dataset.</a:t>
            </a:r>
          </a:p>
          <a:p>
            <a:r>
              <a:t>Offer the knowledge check as self-assessment. Remind the audience</a:t>
            </a:r>
          </a:p>
          <a:p>
            <a:r>
              <a:t>that every number quoted tonight has a row in claim_evidence.csv —</a:t>
            </a:r>
          </a:p>
          <a:p>
            <a:r>
              <a:t>that file, not the slides, is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reproducibility contract and the</a:t>
            </a:r>
          </a:p>
          <a:p>
            <a:r>
              <a:t>primary literature. The citations on the right are the mechanism and</a:t>
            </a:r>
          </a:p>
          <a:p>
            <a:r>
              <a:t>method sources; the repository files on the left are where every</a:t>
            </a:r>
          </a:p>
          <a:p>
            <a:r>
              <a:t>number lives.</a:t>
            </a:r>
          </a:p>
          <a:p/>
          <a:p>
            <a:r>
              <a:t>Suggested closing exercise: give the audience claim_evidence.csv and</a:t>
            </a:r>
          </a:p>
          <a:p>
            <a:r>
              <a:t>ask them to pick any three numbers shown tonight and trace them to</a:t>
            </a:r>
          </a:p>
          <a:p>
            <a:r>
              <a:t>source files — the trace IS the lesson. The expert_review_sheet.csv</a:t>
            </a:r>
          </a:p>
          <a:p>
            <a:r>
              <a:t>lists what a domain expert should verify before this pack's</a:t>
            </a:r>
          </a:p>
          <a:p>
            <a:r>
              <a:t>interpretations are trusted: the ambiguous-bright classification,</a:t>
            </a:r>
          </a:p>
          <a:p>
            <a:r>
              <a:t>the contrast-anomaly reading, the assumption bands, and five</a:t>
            </a:r>
          </a:p>
          <a:p>
            <a:r>
              <a:t>spot-checks on the claim ledger. The knowledge_check.md questions</a:t>
            </a:r>
          </a:p>
          <a:p>
            <a:r>
              <a:t>map one-to-one to the take-home points; answer key included.</a:t>
            </a:r>
          </a:p>
          <a:p/>
          <a:p>
            <a:r>
              <a:t>References in full (for the notes): Doyle M., Fuller T.F., Newman J.</a:t>
            </a:r>
          </a:p>
          <a:p>
            <a:r>
              <a:t>J. Electrochem. Soc. 140:1526 (1993); Chen C.-H. et al.</a:t>
            </a:r>
          </a:p>
          <a:p>
            <a:r>
              <a:t>Phys.Chem.Chem.Phys. 22 (2020); O'Kane S.E.J. et al.</a:t>
            </a:r>
          </a:p>
          <a:p>
            <a:r>
              <a:t>Phys.Chem.Chem.Phys. 24 (2022); Bonkile M.P. &amp; Ramadesigan V.</a:t>
            </a:r>
          </a:p>
          <a:p>
            <a:r>
              <a:t>J. Power Sources (2024); Otsu N. IEEE Trans. SMC-9:62 (1979);</a:t>
            </a:r>
          </a:p>
          <a:p>
            <a:r>
              <a:t>Benjamini Y. &amp; Hochberg Y. JRSS-B 57:289 (1995); Clark P.J. &amp;</a:t>
            </a:r>
          </a:p>
          <a:p>
            <a:r>
              <a:t>Evans F.C. Ecology 35:445 (1954); Delesse A. C.R. Acad. Sci. 25:544</a:t>
            </a:r>
          </a:p>
          <a:p>
            <a:r>
              <a:t>(1848); Saltykov S.A. stereological sectioning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reference table — every declared feature x</a:t>
            </a:r>
          </a:p>
          <a:p>
            <a:r>
              <a:t>pair. Only rows marked YES survive BH at FDR 0.10. The MDD column is</a:t>
            </a:r>
          </a:p>
          <a:p>
            <a:r>
              <a:t>the answer to 'could a real difference be hiding?' — differences</a:t>
            </a:r>
          </a:p>
          <a:p>
            <a:r>
              <a:t>below it are invisible at n=7 (or 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Claims: C23–C25, C50.</a:t>
            </a:r>
          </a:p>
          <a:p/>
          <a:p>
            <a:r>
              <a:t>Appendix-level detail on the verdict correction for reviewers who</a:t>
            </a:r>
          </a:p>
          <a:p>
            <a:r>
              <a:t>want the mechanics: the original flag weights and T² null were fitted</a:t>
            </a:r>
          </a:p>
          <a:p>
            <a:r>
              <a:t>with exposure to the test batches, inflating confidence. The</a:t>
            </a:r>
          </a:p>
          <a:p>
            <a:r>
              <a:t>reference-only recheck keeps the SAME flag thresholds but derives</a:t>
            </a:r>
          </a:p>
          <a:p>
            <a:r>
              <a:t>weights and the multivariate null from the reference alone — that is</a:t>
            </a:r>
          </a:p>
          <a:p>
            <a:r>
              <a:t>the change that demotes Batch_1 to INVESTIGATE and produces the</a:t>
            </a:r>
          </a:p>
          <a:p>
            <a:r>
              <a:t>measured 1/17 baseline exceedance.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table: the complete assumption ledger —</a:t>
            </a:r>
          </a:p>
          <a:p>
            <a:r>
              <a:t>what is assumed, the default value, the sweep band, and the source</a:t>
            </a:r>
          </a:p>
          <a:p>
            <a:r>
              <a:t>(literature citation or declared convention). This is the file a</a:t>
            </a:r>
          </a:p>
          <a:p>
            <a:r>
              <a:t>reviewer checks when asking 'what did you just make up?' — the honest</a:t>
            </a:r>
          </a:p>
          <a:p>
            <a:r>
              <a:t>answer is 'everything in this table, and only this table'.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Gallery slide — the pipeline strip on top shows where</a:t>
            </a:r>
          </a:p>
          <a:p>
            <a:r>
              <a:t>in the chain these crops sit; the three images below are the SAME</a:t>
            </a:r>
          </a:p>
          <a:p>
            <a:r>
              <a:t>1024x1024 reference window at three stages (raw, flat-fielded,</a:t>
            </a:r>
          </a:p>
          <a:p>
            <a:r>
              <a:t>labelled). Useful when a reviewer asks 'show me the data before and</a:t>
            </a:r>
          </a:p>
          <a:p>
            <a:r>
              <a:t>after each step' — the crops are byte-for-byte the annotated_images/</a:t>
            </a:r>
          </a:p>
          <a:p>
            <a:r>
              <a:t>assets, and annotation_provenance.md states plainly that they are</a:t>
            </a:r>
          </a:p>
          <a:p>
            <a:r>
              <a:t>algorithm-produced, not expert labels. If an expert later annotates</a:t>
            </a:r>
          </a:p>
          <a:p>
            <a:r>
              <a:t>the same crop blind, this is the before/after comparison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reproducibility block. One command chain</a:t>
            </a:r>
          </a:p>
          <a:p>
            <a:r>
              <a:t>rebuilds manifest → figures → deck → PDF (BUILD.md); figure build</a:t>
            </a:r>
          </a:p>
          <a:p>
            <a:r>
              <a:t>includes a self-check that recomputes the exact permutation p-value</a:t>
            </a:r>
          </a:p>
          <a:p>
            <a:r>
              <a:t>and compares it to the saved table (must print 0.000477). All</a:t>
            </a:r>
          </a:p>
          <a:p>
            <a:r>
              <a:t>versions pinned in version_manifest.txt; the frozen recipe itself</a:t>
            </a:r>
          </a:p>
          <a:p>
            <a:r>
              <a:t>(md5'd inputs, seed 0, fitted on the 17 Batch_3 images) is the</a:t>
            </a:r>
          </a:p>
          <a:p>
            <a:r>
              <a:t>auditable anchor — any rebuild changing a number means either the</a:t>
            </a:r>
          </a:p>
          <a:p>
            <a:r>
              <a:t>data or the code changed, both of which are detectable.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F7B7B"/>
                </a:solidFill>
                <a:latin typeface="Arial"/>
              </a:rPr>
              <a:t>TEACHING MASTERCLASS — micro2dfn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rial"/>
              </a:rPr>
              <a:t>From pixels to predictions:
</a:t>
            </a:r>
          </a:p>
          <a:p>
            <a:r>
              <a:rPr sz="4000" b="1" i="0">
                <a:solidFill>
                  <a:srgbClr val="FFFFFF"/>
                </a:solidFill>
                <a:latin typeface="Arial"/>
              </a:rPr>
              <a:t>reading an anode cross-section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C9D2DA"/>
                </a:solidFill>
                <a:latin typeface="Arial"/>
              </a:rPr>
              <a:t>The object: a thin graphite+silicon coating — the negative electrode of a lithium-ion battery — sliced open and photographed.</a:t>
            </a:r>
          </a:p>
          <a:p>
            <a:r>
              <a:rPr sz="1600" b="0" i="0">
                <a:solidFill>
                  <a:srgbClr val="C9D2DA"/>
                </a:solidFill>
                <a:latin typeface="Arial"/>
              </a:rPr>
              <a:t>How that photo becomes material labels, how labels become quality-control comparisons and model inputs, and exactly where the evidence stops — worked end-to-end on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480"/>
                </a:solidFill>
                <a:latin typeface="Arial"/>
              </a:rPr>
              <a:t>Data: 34 electron-microscope fields of view · image-level comparisons only · all numbers traceable via claim_evidence.csv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Two routes through the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50" b="1" i="0">
                <a:solidFill>
                  <a:srgbClr val="22282E"/>
                </a:solidFill>
                <a:latin typeface="Arial"/>
              </a:rPr>
              <a:t>Fast route — 10 slides, ~15 min (marked ROUTE)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title → the question → one image → the two systems → the frozen ruler → measurements → the one supported finding → the model's answer → where evidence stops → take-home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50" b="1" i="0">
                <a:solidFill>
                  <a:srgbClr val="22282E"/>
                </a:solidFill>
                <a:latin typeface="Arial"/>
              </a:rPr>
              <a:t>Teaching path — full deck + appendix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worked image transformations, statistics, reconciliation, model mechanics, failure modes, roadmap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50" b="1" i="0">
                <a:solidFill>
                  <a:srgbClr val="22282E"/>
                </a:solidFill>
                <a:latin typeface="Arial"/>
              </a:rPr>
              <a:t>Companion files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presenter_script.md — verbatim narration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metric_dictionary.csv — every metric: units, meaning, limits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claim_evidence.csv — every number → its source file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roadmap.md — what a prospective validation would require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Speaker notes carry the technical depth; appendix slides carry the reference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Three batches, three new photos,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The setup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Thin graphite+silicon electrode coatings, sliced open (ion-milled — polished flat with an ion beam) and imaged by SEM back-scattered electrons (BSE).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Batch_3 = the shipment-approved reference. Batch_1 and Batch_2 = candidates. Plus 3 unlabelled new photos.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The practical questions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Do the candidate batches look like the reference? (the quality-control, QC, job)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Where they differ, what could it mean downstream? (the consequence job)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What this deck will NOT claim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no chemistry, no measured cell performance, no lifetime, no safety verdicts — images cannot supply those</a:t>
            </a:r>
          </a:p>
        </p:txBody>
      </p:sp>
      <p:pic>
        <p:nvPicPr>
          <p:cNvPr id="7" name="Picture 6" descr="fig_datase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60097"/>
            <a:ext cx="4937760" cy="2303565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BSE = back-scattered electrons; SEM = scanning electron microscope — the workhorse instrument. Brightness rises with average atomic number: heavier atoms glow brighter, so carbon shows dark and silicon bright.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One field of view: what BSE brightness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pic>
        <p:nvPicPr>
          <p:cNvPr id="6" name="Picture 5" descr="fig_ref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20765"/>
            <a:ext cx="6492240" cy="216511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178040" y="14630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Reading the greys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near-black = open pore / resin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mid-grey = graphite + binder bulk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bright = silicon-family (higher mean Z)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 worked example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img_hawkfj64 — the Batch_3 image nearest the batch median on all 9 declared features (a documented selection rule, not cherry-picked)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25 nm per pixel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 sampling pitch, not a resolution — the effective object floor is ~0.13 µm pores / ~0.35 µm Si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scale check: a human hair ≈ 70 µm — the smallest pores we can see are ~1/500th of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C02–C04 in claim_evidence.csv. Crop reused for every transformation that follows — same region throughout. µm = micrometre (1/1000 mm).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The dataset: 34 fields of view, three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Batch_1 — 7 fields of view (FOVs)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Batch_2 — 7 FOVs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Batch_3 — 17 FOVs (the reference)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New_Images_Batch — 3 unlabelled FOVs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Channels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BSE: all 34 — the segmentation channel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ETD (Everhart–Thornley, surface-sensitive): 30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InLens (topography): all 34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Images are the unit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34 is small; image-to-image variance sets every bound below</a:t>
            </a:r>
          </a:p>
        </p:txBody>
      </p:sp>
      <p:pic>
        <p:nvPicPr>
          <p:cNvPr id="6" name="Picture 5" descr="fig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26503"/>
            <a:ext cx="5760720" cy="235363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dataset_manifest.csv lists every file + md5. C01–C02.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What these images cannot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Below the object floor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sub-resolution porosity (~0.15–0.30 fraction exists but is invisible — enters the model only as an ASSUMED add-on)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Not in a 2-D section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3-D pore connectivity, true through-plane tortuosity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electrode thickness (foil never in frame → assumed 75 µm)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Not in BSE at all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binder distribution, the SEI film (the thin protective layer that forms on electrodes), lithium inventory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chemical identity of bright material → needs EDS (elemental spectroscopy)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Not in a photo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measured capacity, cycle life,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Consequence for honesty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every model input that is not measured is declared and swept over a band (assumption_table.csv)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the wall between measured and assumed is drawn on every slide from here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B3441E"/>
                </a:solidFill>
                <a:latin typeface="Arial"/>
              </a:rPr>
              <a:t>This list IS part of the result set: it defines the boundary of every claim that follows.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TWO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Same pixels, two different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polaron_qc — anomaly detection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question: does this batch break the reference's own envelope?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frozen baseline thresholds → robust z (a 'how unusual' score) → fingerprints → verdict (ACCEPT / INVESTIGATE / REJECT)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verdict = similarity to baseline, not material truth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micro2dfn — measurement → consequence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question: what structure is resolved, and what could it do in a physics model?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shared segmentation → OBJECT classifier → ~30 markers → a battery-physics simulation (PyBaMM DFN)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They share the ruler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same flat-field, same multi-Otsu idea, same pixel scale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They differ at ONE decision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what counts as a silicon PARTICLE vs ambiguous bright material — and that single difference explains every downstream disagreement (r = 0.27 on classified Si, 0.8–1.0 on everything else)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No claim of which is 'better'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accuracy needs common ground truth — which does not exist yet; see roadmap.md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Reconciliation detail: RECONCILIATION.md, reconcile_output/metric_crosswalk.csv. C21–C22.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IMAGE →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 1: remove the illumination gradient</a:t>
            </a:r>
          </a:p>
        </p:txBody>
      </p:sp>
      <p:pic>
        <p:nvPicPr>
          <p:cNvPr id="5" name="Picture 4" descr="fig_flat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408"/>
            <a:ext cx="7498079" cy="3383825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554480"/>
            <a:ext cx="3657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The problem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large-area intensity drift (beam, detector, charging) makes one global threshold unfair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The fix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divide by a heavily-smoothed copy of itself (Gaussian sigma-200 on a 16x downsample)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What stays honest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thresholds are still fit on the ORIGINAL intensities of the reference — the flat field only de-trends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polaron_qc/io.py flat_field; same idea in both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IMAGE →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 2: the histogram is where labels come from</a:t>
            </a:r>
          </a:p>
        </p:txBody>
      </p:sp>
      <p:pic>
        <p:nvPicPr>
          <p:cNvPr id="5" name="Picture 4" descr="fig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51" y="1325880"/>
            <a:ext cx="9572017" cy="457200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Multi-Otsu finds the two valleys that split pore / bulk / bright. Thresholds are RECIPE CHOICES — different choices, different labels, different findings.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IMAGE →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 3: freeze the ruler, or it absorbs the anomaly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pic>
        <p:nvPicPr>
          <p:cNvPr id="6" name="Picture 5" descr="fig_frozen_flo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64" y="1371600"/>
            <a:ext cx="11075391" cy="402336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B3441E"/>
                </a:solidFill>
                <a:latin typeface="Arial"/>
              </a:rPr>
              <a:t>Frozen thresholds are fit ONCE on Batch_3 pixels and reused on every image. A per-image (floating) threshold re-centres on each image and can hide exactly the shift we are looking for.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IMAGE →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Steps 4–5: threshold, then split touching objects</a:t>
            </a:r>
          </a:p>
        </p:txBody>
      </p:sp>
      <p:pic>
        <p:nvPicPr>
          <p:cNvPr id="5" name="Picture 4" descr="fig_seg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83734"/>
            <a:ext cx="6400800" cy="2439173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Thresholding gives blobs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but adjacent particles fuse into one object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Watershed splits on the distance transform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peaks inside the blob become seeds; boundaries flood between them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Why we must split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particle size and clustering metrics are meaningless while objects are welded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 cost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over-splitting is possible → size metrics carry a splitting bias (a stated limitation)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Objects below the size floor merge into bulk before measurement: Si &lt; 150 px (~0.35 µm), pore &lt; 20 px (~0.13 µm).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IMAGE →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 6: the object classifier — where the two pipelines part</a:t>
            </a:r>
          </a:p>
        </p:txBody>
      </p:sp>
      <p:pic>
        <p:nvPicPr>
          <p:cNvPr id="5" name="Picture 4" descr="fig_class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7733"/>
            <a:ext cx="7315200" cy="319117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955279" y="141732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Three labels for bright objects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si_particle — interior &gt;= t_core AND solidity &gt;= 0.75 (solidity = how filled-in the shape is: area ÷ tight-fit outline area)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bright_fine — fails the cut: small, low-solidity, or low-contrast ambiguous material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rim/edge — bright halo at a pore edge (touched-border crescents)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Why it exists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the DFN needs PARTICLES; rims and dust are not particles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Why it matters later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this is the ONLY metric where the two pipelines disagree (r = 0.27)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t_core = 5th percentile of clear-particle interior intensity, calibrated on the reference. Classifier choice, not ground truth. C08.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LABELS →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Step 7: objects become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pic>
        <p:nvPicPr>
          <p:cNvPr id="6" name="Picture 5" descr="fig_m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77" y="1280160"/>
            <a:ext cx="6460366" cy="484632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434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Per object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eq. diameter = sqrt(4A/pi); solidity; orientation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Distances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distance transform from pore mask → Si-to-pore proximity (a 2-D wetting proxy)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Topology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largest connected pore region share — network fragmentation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Then aggregate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per-image summaries (medians, area-weighted D50) — the image stays the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Cyan = largest connected pore region. Agent annotations over raw pixels — not expert labels. metric_dictionary.csv defines every term.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LABELS →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~30 markers, each with units, limits, and a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623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Every marker declares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units · equation · worked number · what an increase means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limitations · recipe-sensitivity · where it feeds the model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Classes (the honesty axis)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image-derived — measurable from pixels (pore fraction)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geometry-derived — computed on objects (D50, Clark-Evans)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physical proxy — heuristics (Bruggeman exponent)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assumed input — declared, swept (thickness, sub-res porosity)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simulation output — model results (stress, capacity)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 watchlist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8 metrics that carry the whole interpretation — one-page watchlist in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Watchlist (grouped)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acquisition guards: Si:bulk contrast, noise_MAD (image-noise meter), sharpness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resolved pore fraction (reliable, DFN-adjacent)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pore count + noise-adjusted count (the supported finding)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Si candidate + uncertain-bright fractions (report TOGETHER)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Si size: area-weighted D50/D90 → DFN radius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Si→pore proximity + low-coverage share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model stress + swelling budget (assumption-dependent)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The dictionary is the contract between the picture and the claim — read the limitations column before quoting a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Comparing batches: image is the unit, recipe is frozen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The design (validated_comparison/recipe.json)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fit thresholds + noise model on Batch_3 ONLY, freeze, apply to all 31 images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summarise each image to 9 declared features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compare batches on difference of medians, image unit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The tests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exact permutation — every label assignment enumerated: C(24,7)=346,104 (B1–B3), C(14,7)=3,432 (B2–B3)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Benjamini–Hochberg FDR 0.10 — a correction that caps the expected share of false 'significant' hits at 10% across the 9 tests per pair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bootstrap confidence intervals, seed 0; a leave-one-out (LOO) sweep for fragility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And for every null result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a minimum detectable difference (MDD) is reported — 'no clear difference' != equivalence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Why so defensive?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the earlier QC run claimed 'zero baseline false alarms' — the corrected LOO calibration measures 1/17 ≈ 5.9% [CI 1.0–26.9%]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every safeguard below exists because a check FAILED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vcompare/stats.py; recipe vcompare-1.0 fitted on 17 Batch_3 images, seed 0. C09, C25.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The result: one supported difference out of nine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pic>
        <p:nvPicPr>
          <p:cNvPr id="6" name="Picture 5" descr="fig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00" y="1325880"/>
            <a:ext cx="6403479" cy="475488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3816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Supported (BH-significant)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Batch_1 vs Batch_3: resolved pore count +34.5/Mpx, exact p = 0.0005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… and after noise adjustment: +18.8/Mpx, p = 0.002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Everything else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Si fractions, sizes, clustering, porosity, anisotropy — no clear difference at these sample sizes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Read the MDD column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differences SMALLER than the MDD would be invisible — not absent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validated_comparison/pairwise_comparisons.csv — 9 features x 3 pairs. Mpx = million pixels. C10–C13.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How the p-value is computed — every label shuffle</a:t>
            </a:r>
          </a:p>
        </p:txBody>
      </p:sp>
      <p:pic>
        <p:nvPicPr>
          <p:cNvPr id="5" name="Picture 4" descr="fig_perm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96283"/>
            <a:ext cx="7589520" cy="332263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75320" y="146304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Enumerate all splits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346,104 ways to choose 7 of 24 images as 'Batch_1'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Rank the observed gap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+34.5/Mpx sits above every shuffled split → p = 165/346104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Why exact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no distribution assumed; small n handled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Figure recomputes the null live and reproduces the saved p = 0.000477 — the plot itself is a traceability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Noise inflates pore counts — adjust, then re-test</a:t>
            </a:r>
          </a:p>
        </p:txBody>
      </p:sp>
      <p:pic>
        <p:nvPicPr>
          <p:cNvPr id="5" name="Picture 4" descr="fig_noise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0850"/>
            <a:ext cx="7589520" cy="3459219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0" y="141732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The confound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noisier photo → more tiny threshold-crossing specks → higher pore count (correlation ≈ 0.91 with the noise_MAD guard metric)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The fix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regress pore count on image noise using REFERENCE images only (slope 6.18, fit explains ~51% of variation), subtract the noise-predicted part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The outcome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Batch_1 survives (+18.8, p=0.002)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Batch_2's raw shift evaporates (+4.2, p=0.35) — it was mostly photography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recipe.json noise model; fitted on Batch_3 only so the correction itself cannot leak batch information. C11–C12.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Could one image be carrying the result?</a:t>
            </a:r>
          </a:p>
        </p:txBody>
      </p:sp>
      <p:pic>
        <p:nvPicPr>
          <p:cNvPr id="5" name="Picture 4" descr="fig_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1521"/>
            <a:ext cx="7406640" cy="3600719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Leave-one-out sweep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drop each Batch_1 image in turn, re-run the exact test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Result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p stays &lt;= 0.0016 no matter which image is dropped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all 7 Batch_1 images sit above the Batch_3 median — it is a batch-level shift, not one weird photo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Separate question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the 3-of-7 bright-material anomaly is a DIFFERENT, heterogeneous signal — next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loo_sweep.csv — the pore-count shift is robust; the bright-material anomaly is heterogeneous (3 of 7), tested by consensus exceedance instead.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BATCH_1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Three of seven Batch_1 regions carry extra bright material</a:t>
            </a:r>
          </a:p>
        </p:txBody>
      </p:sp>
      <p:pic>
        <p:nvPicPr>
          <p:cNvPr id="5" name="Picture 4" descr="fig_dispute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8070"/>
            <a:ext cx="7498079" cy="2790499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657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What was flagged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img_4ih2ggld, img_5n1q8atc, img_f1vzngrs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bright material 10.7–12.5% (all-bright convention) vs baseline median 7.7%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The complication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2 of 3 photos are DIMMER than baseline — their silicon glows fainter vs bulk (contrast 1.8 vs ~2.3). Real material or a contrast artefact?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img_f1vzngrs shows the excess at NORMAL contrast — the interesting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Consensus-exceedance detection: same-signature regions above the baseline's p90 (its 90th percentile). C14, C41.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BATCH_1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Six tests adjudicate what the bright material probably is</a:t>
            </a:r>
          </a:p>
        </p:txBody>
      </p:sp>
      <p:pic>
        <p:nvPicPr>
          <p:cNvPr id="5" name="Picture 4" descr="fig_adjud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87" y="1280160"/>
            <a:ext cx="10963746" cy="480060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reconcile_output/adjudication.csv — every test is an algorithm check on pixels, not an expert label. C16–C20.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BATCH_1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Same pixels, same flag — different word for it</a:t>
            </a:r>
          </a:p>
        </p:txBody>
      </p:sp>
      <p:pic>
        <p:nvPicPr>
          <p:cNvPr id="5" name="Picture 4" descr="fig_cross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4573"/>
            <a:ext cx="6949440" cy="3506053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160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Where the pipelines agree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correlation 0.8–1.0 (1.0 = identical ranking) on raw bright fraction, porosity, anisotropy, flake alignment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both flag the SAME three regions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Where they disagree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classified Si only: correlation 0.27 — the classifier decision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What the verdicts mean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REJECT = beyond the baseline's own envelope on a matched defect signature → quarantine + root-cause; NOT 'cells will fail'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under the stricter recheck (held-out calibration) Batch_1 reads INVESTIGATE — same anomaly, stricter ruler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reconcile_output/metric_crosswalk.csv + verdict_matrix.csv (13/14 images agree). C21–C24.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BATCH_1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Where the Batch_1 evidence actually 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50" b="1" i="0">
                <a:solidFill>
                  <a:srgbClr val="22282E"/>
                </a:solidFill>
                <a:latin typeface="Arial"/>
              </a:rPr>
              <a:t>Established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3 of 7 Batch_1 regions carry extra bright material (both pipelines flag the same regions)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the objects behave like fine/dimmer silicon on six pixel-level tests — LIKELY fine silicon is the best-supported reading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batch-level resolved pore count is higher in all 7 Batch_1 images (supported comparison finding — survives noise adjustment and dropping any single image)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50" b="1" i="0">
                <a:solidFill>
                  <a:srgbClr val="22282E"/>
                </a:solidFill>
                <a:latin typeface="Arial"/>
              </a:rPr>
              <a:t>Not established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chemical identity — needs EDS/equivalent; 'silicon-family' is morphology+texture, not spectroscopy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whether 2/3 dim-contrast photos are acquisition drift or a real dimmer-Si grade — either way it is batch non-uniformity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50" b="0" i="0">
                <a:solidFill>
                  <a:srgbClr val="6B7480"/>
                </a:solidFill>
                <a:latin typeface="Arial"/>
              </a:rPr>
              <a:t>any consequence for cells — no electrochemical data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EDS = energy-dispersive X-ray spectroscopy — it reads chemical elements, which BSE brightness alone cannot. Recommended next step: targeted EDS on the three flagged regions + re-image under controlled conditions.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What a DFN model is (in one picture)</a:t>
            </a:r>
          </a:p>
        </p:txBody>
      </p:sp>
      <p:pic>
        <p:nvPicPr>
          <p:cNvPr id="5" name="Picture 4" descr="fig_df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5258"/>
            <a:ext cx="7589520" cy="309040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Doyle–Fuller–Newman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two porous electrodes + separator; lithium tracked through electrolyte and inside solid particles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Our two-material negative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primary phase = graphite; secondary phase = silicon with swelling + stress coupling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Why bother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it turns 'more/finer/coarser structure' into signed changes in model indicators — under declared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PyBaMM 26.9.0.0 DFN, Chen2020_composite parameter set. Citations in notes. C49.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Why silicon is special: it swells ~3x on lithiation</a:t>
            </a:r>
          </a:p>
        </p:txBody>
      </p:sp>
      <p:pic>
        <p:nvPicPr>
          <p:cNvPr id="5" name="Picture 4" descr="fig_si_swe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0864"/>
            <a:ext cx="6949440" cy="2633472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The numbers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Si: ~+280% volume at full lithiation (Li15Si4)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graphite: ~+10%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The consequences in the model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particle stress → mechanical fade coupling (stress-LAM = stress-driven loss of active material)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electrode-thickness growth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pore space is the expansion buffer → the 'swelling budget' proxy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The image link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Si fraction + resolved porosity set how much buffer the structure shows — within the resolution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C43 — literature values, not measured here. Swelling budget is a derived proxy, not a DFN input.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Which measurements feed which model inputs</a:t>
            </a:r>
          </a:p>
        </p:txBody>
      </p:sp>
      <p:pic>
        <p:nvPicPr>
          <p:cNvPr id="5" name="Picture 4" descr="fig_inpu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0113"/>
            <a:ext cx="7223760" cy="354641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909560" y="137160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Measured → model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resolved porosity → porosity (plus assumed sub-res add-on)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Si D50/2 → Si particle radius (swept over the batch band)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classified Si x accessible share → Si active fraction, LOW end of bracket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ALL uncertain bright counted → HIGH end of bracket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Assumed → swept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thickness 65–85 µm; sub-res porosity +0.15–0.30; Si modulus 35–90 GPa; nu 0.22–0.28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Not a model input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pore COUNT — the one supported finding is invisible to the DFN entirely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17-point sweep per batch over the measurement band. dfn_input_bands.csv + assumption_table.csv. C37–C38.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One sweep run, fully real: the protocol and the indicators</a:t>
            </a:r>
          </a:p>
        </p:txBody>
      </p:sp>
      <p:pic>
        <p:nvPicPr>
          <p:cNvPr id="5" name="Picture 4" descr="fig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49" y="1234440"/>
            <a:ext cx="6742821" cy="4937759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Actual PyBaMM solution at the Batch_3 band centre — 5 x (1C discharge → rest → 1C charge → CV hold → rest). 1C = a full charge/discharge in ~1 hour; CV hold = constant-voltage top-up. Indicators read as in-cycle peaks/deltas.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The assumption sweep: 17 runs per batch</a:t>
            </a:r>
          </a:p>
        </p:txBody>
      </p:sp>
      <p:pic>
        <p:nvPicPr>
          <p:cNvPr id="5" name="Picture 4" descr="fig_sweep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945"/>
            <a:ext cx="7589520" cy="2641031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Why sweep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unmeasured inputs are bands, not points — the honest output is a band of indicators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17 points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band centre + corners + edges over porosity / Si share / radius / mechanics / thickness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The picture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batch medians sit inside overlapping bands — the assumptions dominate the differences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Assumption-only spread ~1.16 Ah IQR (the typical middle-half spread across sweep runs) on cycle-5 capacity — dwarfs every batch difference. Ah = amp-hours, battery charge. C27–C29.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Paired differences: what moves, what doesn't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pic>
        <p:nvPicPr>
          <p:cNvPr id="6" name="Picture 5" descr="fig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5328"/>
            <a:ext cx="7680960" cy="2790264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21040" y="1417320"/>
            <a:ext cx="34747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150" b="1" i="0">
                <a:solidFill>
                  <a:srgbClr val="22282E"/>
                </a:solidFill>
                <a:latin typeface="Arial"/>
              </a:rPr>
              <a:t>Declared thresholds first</a:t>
            </a:r>
          </a:p>
          <a:p>
            <a:pPr lvl="1">
              <a:spcAft>
                <a:spcPts val="700"/>
              </a:spcAft>
            </a:pPr>
            <a:r>
              <a:rPr sz="10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050" b="0" i="0">
                <a:solidFill>
                  <a:srgbClr val="6B7480"/>
                </a:solidFill>
                <a:latin typeface="Arial"/>
              </a:rPr>
              <a:t>capacity 0.25 Ah (amp-hours) · swelling 0.5 µm · stress 0.5 MPa (megapascals) · min anode voltage 0.01 V — fixed before looking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150" b="1" i="0">
                <a:solidFill>
                  <a:srgbClr val="22282E"/>
                </a:solidFill>
                <a:latin typeface="Arial"/>
              </a:rPr>
              <a:t>The reads</a:t>
            </a:r>
          </a:p>
          <a:p>
            <a:pPr lvl="1">
              <a:spcAft>
                <a:spcPts val="700"/>
              </a:spcAft>
            </a:pPr>
            <a:r>
              <a:rPr sz="10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050" b="0" i="0">
                <a:solidFill>
                  <a:srgbClr val="6B7480"/>
                </a:solidFill>
                <a:latin typeface="Arial"/>
              </a:rPr>
              <a:t>capacity: B1–B3 +0.099, B2–B3 +0.150 Ah — below threshold</a:t>
            </a:r>
          </a:p>
          <a:p>
            <a:pPr lvl="1">
              <a:spcAft>
                <a:spcPts val="700"/>
              </a:spcAft>
            </a:pPr>
            <a:r>
              <a:rPr sz="10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050" b="0" i="0">
                <a:solidFill>
                  <a:srgbClr val="6B7480"/>
                </a:solidFill>
                <a:latin typeface="Arial"/>
              </a:rPr>
              <a:t>Si stress: B1–B3 −0.81, B2–B3 −1.59 MPa — crosses the declared bar</a:t>
            </a:r>
          </a:p>
          <a:p>
            <a:pPr lvl="1">
              <a:spcAft>
                <a:spcPts val="700"/>
              </a:spcAft>
            </a:pPr>
            <a:r>
              <a:rPr sz="10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050" b="0" i="0">
                <a:solidFill>
                  <a:srgbClr val="6B7480"/>
                </a:solidFill>
                <a:latin typeface="Arial"/>
              </a:rPr>
              <a:t>swelling &amp; plating-margin: below threshold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150" b="1" i="0">
                <a:solidFill>
                  <a:srgbClr val="22282E"/>
                </a:solidFill>
                <a:latin typeface="Arial"/>
              </a:rPr>
              <a:t>The catch</a:t>
            </a:r>
          </a:p>
          <a:p>
            <a:pPr lvl="1">
              <a:spcAft>
                <a:spcPts val="700"/>
              </a:spcAft>
            </a:pPr>
            <a:r>
              <a:rPr sz="10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050" b="0" i="0">
                <a:solidFill>
                  <a:srgbClr val="6B7480"/>
                </a:solidFill>
                <a:latin typeface="Arial"/>
              </a:rPr>
              <a:t>the stress shift rides on assumed Si share + modulus — model-conditional, not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dfn_paired_differences.csv — same cathode per sweep index; differences at matched assumptions only. C28–C32.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STRUCTURE →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Validation means self-consistency — and it caught real bugs</a:t>
            </a:r>
          </a:p>
        </p:txBody>
      </p:sp>
      <p:pic>
        <p:nvPicPr>
          <p:cNvPr id="5" name="Picture 4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6554"/>
            <a:ext cx="7223760" cy="3167811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What was wrong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shipped constants had the fade rate (LAM = loss of active material) 3600x too fast and the protective-film rate (SEI = solid electrolyte interphase) 1000x too slow vs the cited sources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What it did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buggy model lost ~29% capacity in 5 cycles — physically absurd, and it would have shipped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What validation is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8/8 self-checks now pass — reference sanity, ablation, convergence, protocol audit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50" b="1" i="0">
                <a:solidFill>
                  <a:srgbClr val="22282E"/>
                </a:solidFill>
                <a:latin typeface="Arial"/>
              </a:rPr>
              <a:t>What it is NOT</a:t>
            </a:r>
          </a:p>
          <a:p>
            <a:pPr lvl="1">
              <a:spcAft>
                <a:spcPts val="700"/>
              </a:spcAft>
            </a:pPr>
            <a:r>
              <a:rPr sz="11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50" b="0" i="0">
                <a:solidFill>
                  <a:srgbClr val="6B7480"/>
                </a:solidFill>
                <a:latin typeface="Arial"/>
              </a:rPr>
              <a:t>no experimental data exist → nothing here validates predictive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dfn_validation.md — constants audit + ablation table. C34–C36.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THE EVIDENCE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Where the evidence stops — the honest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440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Established (measured)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Batch_1 pore-count shift vs Batch_3 (uniform, robust)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3-of-7 bright-material anomaly; likely fine silicon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both pipelines detect; they differ only on naming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Best-supported but open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stress-indicator differences (model-conditional)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dim-contrast on 2 flagged photos (drift or grade?)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Not established (can't be, with this data)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chemical identity · any cell-level consequence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general batch ranking · equivalence on the other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440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The honest ledger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assumed inputs: thickness, sub-res porosity, Si share bracket, mechanics, degradation constants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assumption spread &gt; every batch difference on capacity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34 images is small — MDDs bound what 'no difference' means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50" b="1" i="0">
                <a:solidFill>
                  <a:srgbClr val="22282E"/>
                </a:solidFill>
                <a:latin typeface="Arial"/>
              </a:rPr>
              <a:t>What would close the gaps (roadmap.md)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EDS (elemental spectroscopy) on flagged regions → chemistry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controlled repeat imaging → acquisition effects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blind expert annotation → labels for classifier eval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measured thickness/porosity → shrink the assumed bands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50" b="0" i="0">
                <a:solidFill>
                  <a:srgbClr val="6B7480"/>
                </a:solidFill>
                <a:latin typeface="Arial"/>
              </a:rPr>
              <a:t>electrochemical testing → ground the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B3441E"/>
                </a:solidFill>
                <a:latin typeface="Arial"/>
              </a:rPr>
              <a:t>Every line above maps to a row in claim_evidence.csv.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INCOMING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Three unlabelled photos: similarity, not provenance</a:t>
            </a:r>
          </a:p>
        </p:txBody>
      </p:sp>
      <p:pic>
        <p:nvPicPr>
          <p:cNvPr id="5" name="Picture 4" descr="fig_new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1878"/>
            <a:ext cx="7498079" cy="2991443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Envelope coverage on the 9 features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img_3e122cbj → inside Batch_1 envelope on 7/9 — including the uncertain-bright signature → assigned Batch_1 (cautious)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img_fn0mhxef → 9/9 inside Batch_2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img_xrv9xvzb → 9/9 inside Batch_3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Low confidence by design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overlapping envelopes = similarity classes, not identity; the labels are hypothesis-generating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new_image_assignment/assignments.csv — median robust-z assignment; C40.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PROSPECTIVE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If this were run prospectively: the frozen protocol</a:t>
            </a:r>
          </a:p>
        </p:txBody>
      </p:sp>
      <p:pic>
        <p:nvPicPr>
          <p:cNvPr id="5" name="Picture 4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2357"/>
            <a:ext cx="7863840" cy="3741926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41732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Freeze BEFORE new data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recipe, reference, classifier, model assumptions, comparisons, decision rules — all versioned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Gates that stop the line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acquisition outside supported conditions → review, don't force a verdict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image-quality guards fail → investigate imaging first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Unblind last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save results before revealing labels; evaluate at the image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roadmap.md has the full stepwise table: inputs, outputs, owner, pass/stop criteria.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Bonus open question: through-plane pore texture</a:t>
            </a:r>
          </a:p>
        </p:txBody>
      </p:sp>
      <p:pic>
        <p:nvPicPr>
          <p:cNvPr id="5" name="Picture 4" descr="fig_ori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670"/>
            <a:ext cx="7863840" cy="3056979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What we claimed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pores and texture prefer the vertical/through-plane direction (FFT directionality + object shape)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What the audit found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the FFT score measures the frame's aspect ratio — pure noise scores the same at the real 1034x3500 frame shape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direct autocorrelation shows features ~1.4x HORIZONTAL — the claim was withdrawn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200" b="1" i="0">
                <a:solidFill>
                  <a:srgbClr val="22282E"/>
                </a:solidFill>
                <a:latin typeface="Arial"/>
              </a:rPr>
              <a:t>Why show a retracted result</a:t>
            </a:r>
          </a:p>
          <a:p>
            <a:pPr lvl="1">
              <a:spcAft>
                <a:spcPts val="700"/>
              </a:spcAft>
            </a:pPr>
            <a:r>
              <a:rPr sz="11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100" b="0" i="0">
                <a:solidFill>
                  <a:srgbClr val="6B7480"/>
                </a:solidFill>
                <a:latin typeface="Arial"/>
              </a:rPr>
              <a:t>this is what honest reporting looks like: the finding was in orientation_features.csv for weeks before anyone ran the noise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claim C42 withdrawn — see archive/ARCHIVE.md and archive/orientation_features.csv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Five things to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310896"/>
            <a:ext cx="777240" cy="310896"/>
          </a:xfrm>
          <a:prstGeom prst="rect">
            <a:avLst/>
          </a:prstGeom>
          <a:solidFill>
            <a:srgbClr val="0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500" b="1" i="0">
                <a:solidFill>
                  <a:srgbClr val="22282E"/>
                </a:solidFill>
                <a:latin typeface="Arial"/>
              </a:rPr>
              <a:t>1. Labels are model outputs.</a:t>
            </a:r>
            <a:r>
              <a:rPr sz="1500" b="0" i="0">
                <a:solidFill>
                  <a:srgbClr val="22282E"/>
                </a:solidFill>
                <a:latin typeface="Arial"/>
              </a:rPr>
              <a:t> Every 'material fraction' is a threshold+classifier choice — freeze and version the recipe.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500" b="1" i="0">
                <a:solidFill>
                  <a:srgbClr val="22282E"/>
                </a:solidFill>
                <a:latin typeface="Arial"/>
              </a:rPr>
              <a:t>2. The image is the unit.</a:t>
            </a:r>
            <a:r>
              <a:rPr sz="1500" b="0" i="0">
                <a:solidFill>
                  <a:srgbClr val="22282E"/>
                </a:solidFill>
                <a:latin typeface="Arial"/>
              </a:rPr>
              <a:t> 34 images is small; 'no clear difference' carries a minimum-detectable-difference, never equivalence.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500" b="1" i="0">
                <a:solidFill>
                  <a:srgbClr val="22282E"/>
                </a:solidFill>
                <a:latin typeface="Arial"/>
              </a:rPr>
              <a:t>3. One supported finding.</a:t>
            </a:r>
            <a:r>
              <a:rPr sz="1500" b="0" i="0">
                <a:solidFill>
                  <a:srgbClr val="22282E"/>
                </a:solidFill>
                <a:latin typeface="Arial"/>
              </a:rPr>
              <a:t> Batch_1 &gt; Batch_3 on noise-adjusted resolved pore count (uniform, robust to dropping any image) — plus a separate 3-of-7 likely-fine-silicon anomaly still awaiting chemical confirmation.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500" b="1" i="0">
                <a:solidFill>
                  <a:srgbClr val="22282E"/>
                </a:solidFill>
                <a:latin typeface="Arial"/>
              </a:rPr>
              <a:t>4. Model outputs are conditional.</a:t>
            </a:r>
            <a:r>
              <a:rPr sz="1500" b="0" i="0">
                <a:solidFill>
                  <a:srgbClr val="22282E"/>
                </a:solidFill>
                <a:latin typeface="Arial"/>
              </a:rPr>
              <a:t> DFN (battery-physics) indicators move with assumed inputs more than with batches — report paired differences against declared thresholds, never absolute claims.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500" b="1" i="0">
                <a:solidFill>
                  <a:srgbClr val="22282E"/>
                </a:solidFill>
                <a:latin typeface="Arial"/>
              </a:rPr>
              <a:t>5. Verdicts are similarity statements.</a:t>
            </a:r>
            <a:r>
              <a:rPr sz="1500" b="0" i="0">
                <a:solidFill>
                  <a:srgbClr val="22282E"/>
                </a:solidFill>
                <a:latin typeface="Arial"/>
              </a:rPr>
              <a:t> ACCEPT/INVESTIGATE/REJECT describe distance from a SELECTED reference — not chemistry, performance, or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Knowledge check + answers in the repo; every number traces via claim_evidence.csv.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Traceability and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Trace your numbers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claim_evidence.csv — 50 claims → source file + class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metric_dictionary.csv — units, equations, limits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dataset_manifest.csv — every image + md5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Self-test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knowledge_check.md — 8 questions with answers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Rebuild everything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BUILD.md — one command regenerates figures + deck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Expert review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expert_review_sheet.csv — what a human expert should verify and sign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49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300" b="1" i="0">
                <a:solidFill>
                  <a:srgbClr val="22282E"/>
                </a:solidFill>
                <a:latin typeface="Arial"/>
              </a:rPr>
              <a:t>Primary sources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Doyle, Fuller, Newman — JECS 140:1526 (1993): the DFN model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Chen et al. — PhysChemChemPhys 22 (2020): parameter set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OKane et al. — PhysChemChemPhys 24 (2022): degradation constants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Bonkile &amp; Ramadesigan — J. Power Sources 581 (2024): Si mechanics</a:t>
            </a:r>
          </a:p>
          <a:p>
            <a:pPr lvl="1">
              <a:spcAft>
                <a:spcPts val="700"/>
              </a:spcAft>
            </a:pPr>
            <a:r>
              <a:rPr sz="12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200" b="0" i="0">
                <a:solidFill>
                  <a:srgbClr val="6B7480"/>
                </a:solidFill>
                <a:latin typeface="Arial"/>
              </a:rPr>
              <a:t>Otsu — IEEE SMC-9 (1979); Saltykov stereology; Delesse (1848); Clark &amp; Evans (1954); Benjamini &amp; Hochberg JRSS-B 57 (1995)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Appendix slides follow: pairwise table, calibration detail, assumption table, stage gallery, environment.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APPENDIX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All 9 features x 3 batch pairs (permutation + BH)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7B"/>
                </a:solidFill>
                <a:latin typeface="Arial"/>
              </a:rPr>
              <a:t>B1-B2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600200"/>
          <a:ext cx="37307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"/>
                <a:gridCol w="566928"/>
                <a:gridCol w="566928"/>
                <a:gridCol w="566928"/>
              </a:tblGrid>
              <a:tr h="448056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median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exact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MDD(80%)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si_candidate_frac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0.0126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uncertain_bright_frac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0.0116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si_d50_um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si_d90_um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1.83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si_clustering_R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0.1841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0.0464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0.7669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0.0288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0.2191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65.3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pores_per_mpx_noise_adj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+14.6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0.2191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64.5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pore_anisotropy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4340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7B"/>
                </a:solidFill>
                <a:latin typeface="Arial"/>
              </a:rPr>
              <a:t>B1-B3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43400" y="1600200"/>
          <a:ext cx="37307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"/>
                <a:gridCol w="566928"/>
                <a:gridCol w="566928"/>
                <a:gridCol w="566928"/>
              </a:tblGrid>
              <a:tr h="448056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median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exact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MDD(80%)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si_candidate_frac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-0.000803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0.0236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uncertain_bright_frac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0.0153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si_d50_um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+7.44e-05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0.548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si_d90_um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1.04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si_clustering_R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0.6138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0.0752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0.0312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0.0004767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3441E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28.7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pores_per_mpx_noise_adj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+18.8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0.001864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3441E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10.3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pore_anisotropy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0.0839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319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7B"/>
                </a:solidFill>
                <a:latin typeface="Arial"/>
              </a:rPr>
              <a:t>B2-B3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75319" y="1600200"/>
          <a:ext cx="37307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"/>
                <a:gridCol w="566928"/>
                <a:gridCol w="566928"/>
                <a:gridCol w="566928"/>
              </a:tblGrid>
              <a:tr h="448056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median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exact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MDD(80%)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si_candidate_frac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+0.00107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0.0148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uncertain_bright_frac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+0.000509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0.00973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si_d50_um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0.469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si_d90_um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0.3229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1.46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si_clustering_R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+0.0278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0.5256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0.0975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-0.000629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0.0267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0.01007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3441E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21.6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pores_per_mpx_noise_adj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+4.16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0.3528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pore_anisotropy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-0.0369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0.1675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Arial"/>
                        </a:defRPr>
                      </a:pPr>
                      <a:r>
                        <a:t>0.0778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validated_comparison/pairwise_comparisons.csv — the authoritative table; 'no clear difference' rows carry MDDs.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APPENDIX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Corrected calibration: what changed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Original QC verdicts</a:t>
            </a:r>
            <a:r>
              <a:rPr sz="1400" b="0" i="0">
                <a:solidFill>
                  <a:srgbClr val="22282E"/>
                </a:solidFill>
                <a:latin typeface="Arial"/>
              </a:rPr>
              <a:t>: Batch_1 REJECT · Batch_2 INVESTIGATE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the flag weights + T² reference (a multivariate 'how-unusual' statistic) were fitted on data that saw the batches under test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Corrected recheck</a:t>
            </a:r>
            <a:r>
              <a:rPr sz="1400" b="0" i="0">
                <a:solidFill>
                  <a:srgbClr val="22282E"/>
                </a:solidFill>
                <a:latin typeface="Arial"/>
              </a:rPr>
              <a:t> (reference-only weights + held-out T²): BOTH batches → INVESTIGATE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Batch_1: 1/7 regions exceeds flag threshold; 2 more above the baseline's p90 (90th percentile, same signature); held-out T² unusual (p ≈ 0.00005)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Baseline honesty check</a:t>
            </a:r>
            <a:r>
              <a:rPr sz="1400" b="0" i="0">
                <a:solidFill>
                  <a:srgbClr val="22282E"/>
                </a:solidFill>
                <a:latin typeface="Arial"/>
              </a:rPr>
              <a:t>: LOO exceedance = 1/17 ≈ 5.9% [CI 1.0–26.9%] — the earlier 'zero false alarms' claim is withdrawn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Standing today</a:t>
            </a:r>
            <a:r>
              <a:rPr sz="1400" b="0" i="0">
                <a:solidFill>
                  <a:srgbClr val="22282E"/>
                </a:solidFill>
                <a:latin typeface="Arial"/>
              </a:rPr>
              <a:t>: the anomaly EXISTS; the severity label is calibration-dependent → INVESTIGATE is the defensible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qc_recheck.csv · calibration_counts.csv · checks.csv — C23–C25, C50.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APPENDIX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The declared assumptions (full sweep 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669280"/>
              </a:tblGrid>
              <a:tr h="373380">
                <a:tc>
                  <a:txBody>
                    <a:bodyPr/>
                    <a:lstStyle/>
                    <a:p>
                      <a:pPr>
                        <a:defRPr sz="1100" b="1"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Arial"/>
                        </a:defRPr>
                      </a:pPr>
                      <a:r>
                        <a:t>why assumed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electrode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75 um [65-85 swept]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foil &amp; coating top not in frame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sub-resolution 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+0.20 [+0.15 to +0.30]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pores below ~0.35 um are invisible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Si active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0.04 [0.04-0.08]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lo: classified Si x share touching pore; hi: ALL uncertain bright counted (label bracket); 'all-Si-active' var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Si Young's 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50 GPa [35-90 swept]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Bonkile2024; lithiated-Si literature range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Si Poisson's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0.25 [0.22-0.28 swept]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Bonkile2024; cited range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Si particle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1.26 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d50/2 of detected Si (area-weighted)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graphite particle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5.86 um FIXED, identical for every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fixed assumed value (Chen2020) — NOT measured from images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pore count / pore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not a DFN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resolved-pore-count differences (e.g. Batch_1 vs Batch_3) are image findings only — the homogenised model has 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primary-phase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graphite (NMC622 cathode)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Chen2020_composite baseline cell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Bruggeman 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2-D finite-difference tortuosity proxy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degradation constants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OKane2022 (LAM prop. 2.7778e-7 s-1, SEI kinetic 1e-12 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published; see dfn_output/dfn_validation.md constants table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dfn_output/assumption_table.csv — every unmeasured input is declared with its source and sweep band.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APPENDIX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The transformation chain on the reference crop</a:t>
            </a:r>
          </a:p>
        </p:txBody>
      </p:sp>
      <p:pic>
        <p:nvPicPr>
          <p:cNvPr id="5" name="Picture 4" descr="st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9570"/>
            <a:ext cx="11064240" cy="761301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pic>
        <p:nvPicPr>
          <p:cNvPr id="6" name="Picture 5" descr="ref_ra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3291840" cy="329184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806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480"/>
                </a:solidFill>
                <a:latin typeface="Arial"/>
              </a:rPr>
              <a:t>raw</a:t>
            </a:r>
          </a:p>
        </p:txBody>
      </p:sp>
      <p:pic>
        <p:nvPicPr>
          <p:cNvPr id="8" name="Picture 7" descr="ref_fla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468880"/>
            <a:ext cx="3291840" cy="329184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617720" y="5806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480"/>
                </a:solidFill>
                <a:latin typeface="Arial"/>
              </a:rPr>
              <a:t>flat-fielded</a:t>
            </a:r>
          </a:p>
        </p:txBody>
      </p:sp>
      <p:pic>
        <p:nvPicPr>
          <p:cNvPr id="10" name="Picture 9" descr="ref_seg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468880"/>
            <a:ext cx="3291840" cy="329184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12480" y="5806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480"/>
                </a:solidFill>
                <a:latin typeface="Arial"/>
              </a:rPr>
              <a:t>labelled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Annotated crops in annotated_images/ — agent-produced annotations, NOT expert labels (annotation_provenance.md).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F7B7B"/>
                </a:solidFill>
                <a:latin typeface="Arial"/>
              </a:rPr>
              <a:t>APPENDIX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22282E"/>
                </a:solidFill>
                <a:latin typeface="Arial"/>
              </a:rPr>
              <a:t>Reproduce it: environment, seeds,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Environment (version_manifest)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Python 3.13.5 · NumPy 2.5.3 · pandas 3.0.6 · SciPy 1.18.1 · scikit-image 0.26.0 · matplotlib 3.11.2 · PyBaMM 26.9.0.0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Self-updating pack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scripts/sync.py fingerprints all inputs, rebuilds only changed stages, and re-audits every claim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build stamp — sync 2026-10-04T02:44:02Z · 144 fingerprinted inputs · stages: figures, deck, pdf, render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Seeds and recipes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comparison recipe vcompare-1.0, seed 0, fitted on 17 Batch_3 images (recipe.json, md5'd inputs)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Rebuild this teaching pack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scripts/sync.py — one command does manifest → figures → deck → PDF → claim audit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audit_claims.py — re-verifies every file-checkable claim; STALE = source no longer matches the deck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F7B7B"/>
                </a:solidFill>
                <a:latin typeface="Arial"/>
              </a:rPr>
              <a:t>—  </a:t>
            </a:r>
            <a:r>
              <a:rPr sz="1400" b="1" i="0">
                <a:solidFill>
                  <a:srgbClr val="22282E"/>
                </a:solidFill>
                <a:latin typeface="Arial"/>
              </a:rPr>
              <a:t>Traceability</a:t>
            </a:r>
          </a:p>
          <a:p>
            <a:pPr lvl="1">
              <a:spcAft>
                <a:spcPts val="700"/>
              </a:spcAft>
            </a:pPr>
            <a:r>
              <a:rPr sz="1300" b="1" i="0">
                <a:solidFill>
                  <a:srgbClr val="6B7480"/>
                </a:solidFill>
                <a:latin typeface="Arial"/>
              </a:rPr>
              <a:t>    ·  </a:t>
            </a:r>
            <a:r>
              <a:rPr sz="1300" b="0" i="0">
                <a:solidFill>
                  <a:srgbClr val="6B7480"/>
                </a:solidFill>
                <a:latin typeface="Arial"/>
              </a:rPr>
              <a:t>claim ids (C01–C50) in speaker notes ↔ claim_evidence.csv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B7480"/>
                </a:solidFill>
                <a:latin typeface="Arial"/>
              </a:rPr>
              <a:t>Version pins in version_manifest.txt; commands in BUILD.md.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